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317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46" r:id="rId11"/>
    <p:sldId id="375" r:id="rId12"/>
    <p:sldId id="357" r:id="rId13"/>
    <p:sldId id="358" r:id="rId14"/>
    <p:sldId id="331" r:id="rId15"/>
    <p:sldId id="332" r:id="rId16"/>
    <p:sldId id="333" r:id="rId17"/>
    <p:sldId id="334" r:id="rId18"/>
    <p:sldId id="335" r:id="rId19"/>
    <p:sldId id="336" r:id="rId20"/>
    <p:sldId id="337" r:id="rId21"/>
    <p:sldId id="338" r:id="rId22"/>
    <p:sldId id="373" r:id="rId23"/>
    <p:sldId id="380" r:id="rId24"/>
    <p:sldId id="364" r:id="rId25"/>
    <p:sldId id="365" r:id="rId26"/>
    <p:sldId id="326" r:id="rId27"/>
    <p:sldId id="327" r:id="rId28"/>
    <p:sldId id="328" r:id="rId29"/>
    <p:sldId id="340" r:id="rId30"/>
    <p:sldId id="379" r:id="rId31"/>
    <p:sldId id="366" r:id="rId32"/>
    <p:sldId id="367" r:id="rId33"/>
    <p:sldId id="342" r:id="rId34"/>
    <p:sldId id="343" r:id="rId35"/>
    <p:sldId id="344" r:id="rId36"/>
    <p:sldId id="345" r:id="rId37"/>
    <p:sldId id="378" r:id="rId38"/>
    <p:sldId id="368" r:id="rId39"/>
    <p:sldId id="369" r:id="rId40"/>
    <p:sldId id="348" r:id="rId41"/>
    <p:sldId id="349" r:id="rId42"/>
    <p:sldId id="350" r:id="rId43"/>
    <p:sldId id="351" r:id="rId44"/>
    <p:sldId id="377" r:id="rId45"/>
    <p:sldId id="370" r:id="rId46"/>
    <p:sldId id="371" r:id="rId47"/>
    <p:sldId id="353" r:id="rId48"/>
    <p:sldId id="354" r:id="rId49"/>
    <p:sldId id="355" r:id="rId50"/>
    <p:sldId id="356" r:id="rId51"/>
    <p:sldId id="376" r:id="rId52"/>
    <p:sldId id="374" r:id="rId5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ren" initials="K" lastIdx="3" clrIdx="0">
    <p:extLst>
      <p:ext uri="{19B8F6BF-5375-455C-9EA6-DF929625EA0E}">
        <p15:presenceInfo xmlns:p15="http://schemas.microsoft.com/office/powerpoint/2012/main" userId="Karen" providerId="None"/>
      </p:ext>
    </p:extLst>
  </p:cmAuthor>
  <p:cmAuthor id="2" name="Karen Cristina Camargo" initials="KCC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CC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660"/>
  </p:normalViewPr>
  <p:slideViewPr>
    <p:cSldViewPr>
      <p:cViewPr varScale="1">
        <p:scale>
          <a:sx n="80" d="100"/>
          <a:sy n="80" d="100"/>
        </p:scale>
        <p:origin x="66" y="8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E89527-0E7D-4898-AE28-1516C6B8BB28}" type="datetimeFigureOut">
              <a:rPr lang="pt-BR" smtClean="0"/>
              <a:t>31/08/2018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C8A6A-D854-413B-9C1E-C27386C1811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5076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9DD864-C365-4B59-ACE3-327C9F252DA1}" type="datetimeFigureOut">
              <a:rPr lang="pt-BR" smtClean="0"/>
              <a:t>31/08/2018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520A36A-E45B-48DE-BA89-ECE86D6205A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2698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9DD864-C365-4B59-ACE3-327C9F252DA1}" type="datetimeFigureOut">
              <a:rPr lang="pt-BR" smtClean="0"/>
              <a:t>31/08/2018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520A36A-E45B-48DE-BA89-ECE86D6205A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2423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9DD864-C365-4B59-ACE3-327C9F252DA1}" type="datetimeFigureOut">
              <a:rPr lang="pt-BR" smtClean="0"/>
              <a:t>31/08/2018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520A36A-E45B-48DE-BA89-ECE86D6205A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011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9DD864-C365-4B59-ACE3-327C9F252DA1}" type="datetimeFigureOut">
              <a:rPr lang="pt-BR" smtClean="0"/>
              <a:t>31/08/2018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520A36A-E45B-48DE-BA89-ECE86D6205A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4847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9DD864-C365-4B59-ACE3-327C9F252DA1}" type="datetimeFigureOut">
              <a:rPr lang="pt-BR" smtClean="0"/>
              <a:t>31/08/2018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520A36A-E45B-48DE-BA89-ECE86D6205A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444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9DD864-C365-4B59-ACE3-327C9F252DA1}" type="datetimeFigureOut">
              <a:rPr lang="pt-BR" smtClean="0"/>
              <a:t>31/08/2018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520A36A-E45B-48DE-BA89-ECE86D6205A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0971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9DD864-C365-4B59-ACE3-327C9F252DA1}" type="datetimeFigureOut">
              <a:rPr lang="pt-BR" smtClean="0"/>
              <a:t>31/08/2018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520A36A-E45B-48DE-BA89-ECE86D6205A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2913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9DD864-C365-4B59-ACE3-327C9F252DA1}" type="datetimeFigureOut">
              <a:rPr lang="pt-BR" smtClean="0"/>
              <a:t>31/08/2018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520A36A-E45B-48DE-BA89-ECE86D6205A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6692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9DD864-C365-4B59-ACE3-327C9F252DA1}" type="datetimeFigureOut">
              <a:rPr lang="pt-BR" smtClean="0"/>
              <a:t>31/08/2018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520A36A-E45B-48DE-BA89-ECE86D6205A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1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9DD864-C365-4B59-ACE3-327C9F252DA1}" type="datetimeFigureOut">
              <a:rPr lang="pt-BR" smtClean="0"/>
              <a:t>31/08/2018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520A36A-E45B-48DE-BA89-ECE86D6205A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330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9DD864-C365-4B59-ACE3-327C9F252DA1}" type="datetimeFigureOut">
              <a:rPr lang="pt-BR" smtClean="0"/>
              <a:t>31/08/2018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520A36A-E45B-48DE-BA89-ECE86D6205A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9866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CaixaDeTexto 6"/>
          <p:cNvSpPr txBox="1"/>
          <p:nvPr userDrawn="1"/>
        </p:nvSpPr>
        <p:spPr>
          <a:xfrm>
            <a:off x="8619140" y="6516052"/>
            <a:ext cx="476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AE6E9785-E17A-47A1-98F2-38B3C5E56AFE}" type="slidenum">
              <a:rPr lang="pt-BR" sz="14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548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3200" b="1" kern="1200">
          <a:solidFill>
            <a:srgbClr val="3366C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3068960"/>
            <a:ext cx="9144000" cy="1470025"/>
          </a:xfrm>
        </p:spPr>
        <p:txBody>
          <a:bodyPr>
            <a:normAutofit/>
          </a:bodyPr>
          <a:lstStyle/>
          <a:p>
            <a:pPr algn="ctr"/>
            <a:r>
              <a:rPr lang="pt-BR" dirty="0" smtClean="0"/>
              <a:t>ARDUINO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-108520" y="4725144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>
                <a:latin typeface="Arial" pitchFamily="34" charset="0"/>
                <a:cs typeface="Arial" pitchFamily="34" charset="0"/>
              </a:rPr>
              <a:t>Prof. Me. Pietro Martins de Oliveira</a:t>
            </a: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21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268761"/>
            <a:ext cx="8784976" cy="5589239"/>
          </a:xfrm>
        </p:spPr>
        <p:txBody>
          <a:bodyPr>
            <a:noAutofit/>
          </a:bodyPr>
          <a:lstStyle/>
          <a:p>
            <a:r>
              <a:rPr lang="pt-BR" b="1" dirty="0" err="1" smtClean="0"/>
              <a:t>Arduino</a:t>
            </a:r>
            <a:endParaRPr lang="pt-BR" b="1" dirty="0" smtClean="0"/>
          </a:p>
          <a:p>
            <a:pPr lvl="1"/>
            <a:r>
              <a:rPr lang="pt-BR" sz="2400" dirty="0" smtClean="0"/>
              <a:t>Open-</a:t>
            </a:r>
            <a:r>
              <a:rPr lang="pt-BR" sz="2400" dirty="0" err="1" smtClean="0"/>
              <a:t>scource</a:t>
            </a:r>
            <a:r>
              <a:rPr lang="pt-BR" sz="2400" dirty="0" smtClean="0"/>
              <a:t> (open hardware);</a:t>
            </a:r>
          </a:p>
          <a:p>
            <a:pPr lvl="1"/>
            <a:r>
              <a:rPr lang="pt-BR" sz="2400" dirty="0" smtClean="0"/>
              <a:t>Prototipação de projetos eletrônicos;</a:t>
            </a:r>
          </a:p>
          <a:p>
            <a:pPr lvl="1"/>
            <a:r>
              <a:rPr lang="pt-BR" sz="2400" dirty="0" smtClean="0"/>
              <a:t>Comunidade </a:t>
            </a:r>
            <a:r>
              <a:rPr lang="pt-BR" sz="2400" i="1" dirty="0" err="1" smtClean="0"/>
              <a:t>maker</a:t>
            </a:r>
            <a:r>
              <a:rPr lang="pt-BR" sz="2400" dirty="0" smtClean="0"/>
              <a:t>:</a:t>
            </a:r>
          </a:p>
          <a:p>
            <a:pPr lvl="2"/>
            <a:r>
              <a:rPr lang="pt-BR" dirty="0" smtClean="0"/>
              <a:t>Artistas;</a:t>
            </a:r>
          </a:p>
          <a:p>
            <a:pPr lvl="2"/>
            <a:r>
              <a:rPr lang="pt-BR" dirty="0" smtClean="0"/>
              <a:t>Designers; </a:t>
            </a:r>
          </a:p>
          <a:p>
            <a:pPr lvl="2"/>
            <a:r>
              <a:rPr lang="pt-BR" dirty="0" err="1" smtClean="0"/>
              <a:t>Hobbistas</a:t>
            </a:r>
            <a:r>
              <a:rPr lang="pt-BR" dirty="0" smtClean="0"/>
              <a:t>;</a:t>
            </a:r>
          </a:p>
          <a:p>
            <a:pPr lvl="2"/>
            <a:r>
              <a:rPr lang="pt-BR" dirty="0" smtClean="0"/>
              <a:t>Cientistas.</a:t>
            </a:r>
          </a:p>
          <a:p>
            <a:pPr lvl="1"/>
            <a:r>
              <a:rPr lang="pt-BR" sz="2400" dirty="0" smtClean="0"/>
              <a:t>www.arduino.cc</a:t>
            </a:r>
          </a:p>
          <a:p>
            <a:pPr lvl="1"/>
            <a:endParaRPr lang="pt-BR" sz="2400" dirty="0" smtClean="0"/>
          </a:p>
          <a:p>
            <a:pPr marL="0" indent="0">
              <a:buNone/>
            </a:pPr>
            <a:endParaRPr lang="pt-BR" sz="2200" dirty="0" smtClean="0"/>
          </a:p>
          <a:p>
            <a:pPr marL="0" indent="0">
              <a:buNone/>
            </a:pPr>
            <a:endParaRPr lang="pt-BR" sz="1600" dirty="0" smtClean="0"/>
          </a:p>
          <a:p>
            <a:pPr marL="0" indent="0">
              <a:buNone/>
            </a:pPr>
            <a:r>
              <a:rPr lang="pt-BR" sz="1600" dirty="0" smtClean="0"/>
              <a:t>                Fonte: </a:t>
            </a:r>
            <a:r>
              <a:rPr lang="pt-BR" sz="1600" dirty="0" err="1"/>
              <a:t>A</a:t>
            </a:r>
            <a:r>
              <a:rPr lang="pt-BR" sz="1600" dirty="0" err="1" smtClean="0"/>
              <a:t>rduino</a:t>
            </a:r>
            <a:r>
              <a:rPr lang="pt-BR" sz="1600" dirty="0" smtClean="0"/>
              <a:t> homepage</a:t>
            </a:r>
          </a:p>
          <a:p>
            <a:pPr marL="457200" lvl="1" indent="0">
              <a:buNone/>
            </a:pPr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err="1" smtClean="0"/>
              <a:t>Microcontroladores</a:t>
            </a:r>
            <a:endParaRPr lang="pt-BR" dirty="0"/>
          </a:p>
        </p:txBody>
      </p:sp>
      <p:pic>
        <p:nvPicPr>
          <p:cNvPr id="1026" name="Picture 2" descr="Arduino Boa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709" y="2737434"/>
            <a:ext cx="5616624" cy="400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4147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268761"/>
            <a:ext cx="8784976" cy="5589239"/>
          </a:xfrm>
        </p:spPr>
        <p:txBody>
          <a:bodyPr>
            <a:noAutofit/>
          </a:bodyPr>
          <a:lstStyle/>
          <a:p>
            <a:r>
              <a:rPr lang="pt-BR" b="1" dirty="0" smtClean="0"/>
              <a:t>Tratamento de dados:</a:t>
            </a:r>
          </a:p>
          <a:p>
            <a:pPr lvl="1"/>
            <a:r>
              <a:rPr lang="pt-BR" sz="2600" dirty="0" smtClean="0"/>
              <a:t>Recebe, gera e interpreta dados;</a:t>
            </a:r>
          </a:p>
          <a:p>
            <a:pPr lvl="1"/>
            <a:r>
              <a:rPr lang="pt-BR" sz="2600" dirty="0" smtClean="0"/>
              <a:t>Dados digitais e analógicos.</a:t>
            </a:r>
          </a:p>
          <a:p>
            <a:pPr lvl="1"/>
            <a:endParaRPr lang="pt-BR" sz="2600" dirty="0" smtClean="0"/>
          </a:p>
          <a:p>
            <a:r>
              <a:rPr lang="pt-BR" b="1" dirty="0" smtClean="0"/>
              <a:t>Automação de tarefas</a:t>
            </a:r>
          </a:p>
          <a:p>
            <a:pPr lvl="1"/>
            <a:r>
              <a:rPr lang="pt-BR" sz="2600" dirty="0" smtClean="0"/>
              <a:t>Controles residenciais;</a:t>
            </a:r>
          </a:p>
          <a:p>
            <a:pPr lvl="1"/>
            <a:r>
              <a:rPr lang="pt-BR" sz="2600" dirty="0" smtClean="0"/>
              <a:t>Robótica;</a:t>
            </a:r>
          </a:p>
          <a:p>
            <a:pPr lvl="1"/>
            <a:r>
              <a:rPr lang="pt-BR" sz="2600" dirty="0" smtClean="0"/>
              <a:t>Design interativo;</a:t>
            </a:r>
          </a:p>
          <a:p>
            <a:pPr lvl="1"/>
            <a:r>
              <a:rPr lang="pt-BR" sz="2600" dirty="0" smtClean="0"/>
              <a:t>Projetos eletrônicos.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err="1" smtClean="0"/>
              <a:t>Arduino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105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268761"/>
            <a:ext cx="8784976" cy="5589239"/>
          </a:xfrm>
        </p:spPr>
        <p:txBody>
          <a:bodyPr>
            <a:noAutofit/>
          </a:bodyPr>
          <a:lstStyle/>
          <a:p>
            <a:r>
              <a:rPr lang="pt-BR" b="1" dirty="0" smtClean="0"/>
              <a:t>Dados analógicos:</a:t>
            </a:r>
          </a:p>
          <a:p>
            <a:pPr lvl="1"/>
            <a:r>
              <a:rPr lang="pt-BR" dirty="0" smtClean="0"/>
              <a:t>O sinal é como uma onda contínua (não-discretos);</a:t>
            </a:r>
          </a:p>
          <a:p>
            <a:pPr lvl="1"/>
            <a:r>
              <a:rPr lang="pt-BR" dirty="0" smtClean="0"/>
              <a:t>Dados em formato original (não-tratados).</a:t>
            </a:r>
            <a:endParaRPr lang="pt-BR" sz="2600" b="1" dirty="0"/>
          </a:p>
          <a:p>
            <a:r>
              <a:rPr lang="pt-BR" b="1" dirty="0" smtClean="0"/>
              <a:t>Dados digitais:</a:t>
            </a:r>
          </a:p>
          <a:p>
            <a:pPr lvl="1"/>
            <a:r>
              <a:rPr lang="pt-BR" dirty="0" smtClean="0"/>
              <a:t>O sinal “convertido” em bits: 0 (zero) ou 1 (um);</a:t>
            </a:r>
          </a:p>
          <a:p>
            <a:pPr lvl="1"/>
            <a:r>
              <a:rPr lang="pt-BR" dirty="0" smtClean="0"/>
              <a:t>Onda analógica é utilizada para compor os dados digitais via amostragem;</a:t>
            </a:r>
          </a:p>
          <a:p>
            <a:pPr lvl="1"/>
            <a:r>
              <a:rPr lang="pt-BR" dirty="0" smtClean="0"/>
              <a:t>É possível fazer a conversão inversa: a partir dos dados digitais, gera-se uma onda analógica muito parecida com o sinal original (PWM).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Sinais Analógicos × Sinais Digitais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3850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132357"/>
            <a:ext cx="4095750" cy="56007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Detalhes do Hardware – </a:t>
            </a:r>
            <a:r>
              <a:rPr lang="pt-BR" dirty="0" err="1" smtClean="0"/>
              <a:t>Arduino</a:t>
            </a:r>
            <a:r>
              <a:rPr lang="pt-BR" dirty="0" smtClean="0"/>
              <a:t> Uno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2518274" y="5257062"/>
            <a:ext cx="613566" cy="1131879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2665376" y="1550800"/>
            <a:ext cx="826504" cy="1158120"/>
          </a:xfrm>
          <a:prstGeom prst="rect">
            <a:avLst/>
          </a:prstGeom>
          <a:noFill/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4716016" y="1167815"/>
            <a:ext cx="1080120" cy="1404701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816888" y="1870166"/>
            <a:ext cx="483304" cy="55833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/>
          <p:cNvSpPr txBox="1"/>
          <p:nvPr/>
        </p:nvSpPr>
        <p:spPr>
          <a:xfrm>
            <a:off x="188656" y="5656563"/>
            <a:ext cx="22927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smtClean="0">
                <a:solidFill>
                  <a:schemeClr val="accent6">
                    <a:lumMod val="75000"/>
                  </a:schemeClr>
                </a:solidFill>
              </a:rPr>
              <a:t>Pinos analógicos</a:t>
            </a:r>
            <a:endParaRPr lang="pt-BR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664832" y="1074698"/>
            <a:ext cx="30058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smtClean="0">
                <a:solidFill>
                  <a:schemeClr val="accent1">
                    <a:lumMod val="75000"/>
                  </a:schemeClr>
                </a:solidFill>
              </a:rPr>
              <a:t>Alimentação (energia)</a:t>
            </a:r>
            <a:br>
              <a:rPr lang="pt-BR" sz="2400" b="1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pt-BR" sz="2400" b="1" dirty="0" smtClean="0">
                <a:solidFill>
                  <a:schemeClr val="accent1">
                    <a:lumMod val="75000"/>
                  </a:schemeClr>
                </a:solidFill>
              </a:rPr>
              <a:t>Externa</a:t>
            </a:r>
            <a:endParaRPr lang="pt-BR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5786728" y="1103991"/>
            <a:ext cx="7040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smtClean="0">
                <a:solidFill>
                  <a:srgbClr val="92D050"/>
                </a:solidFill>
              </a:rPr>
              <a:t>USB</a:t>
            </a:r>
            <a:endParaRPr lang="pt-BR" sz="2400" b="1" dirty="0">
              <a:solidFill>
                <a:srgbClr val="92D050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6284022" y="1841075"/>
            <a:ext cx="1721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smtClean="0"/>
              <a:t>Botão Reset</a:t>
            </a:r>
            <a:endParaRPr lang="pt-BR" sz="2400" b="1" dirty="0"/>
          </a:p>
        </p:txBody>
      </p:sp>
      <p:sp>
        <p:nvSpPr>
          <p:cNvPr id="16" name="CaixaDeTexto 15"/>
          <p:cNvSpPr txBox="1"/>
          <p:nvPr/>
        </p:nvSpPr>
        <p:spPr>
          <a:xfrm>
            <a:off x="6300192" y="3714753"/>
            <a:ext cx="1863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smtClean="0">
                <a:solidFill>
                  <a:srgbClr val="FF0000"/>
                </a:solidFill>
              </a:rPr>
              <a:t>Pinos digitais</a:t>
            </a:r>
            <a:endParaRPr lang="pt-BR" sz="2400" b="1" dirty="0">
              <a:solidFill>
                <a:srgbClr val="FF0000"/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2518274" y="4532078"/>
            <a:ext cx="469550" cy="396211"/>
          </a:xfrm>
          <a:prstGeom prst="rect">
            <a:avLst/>
          </a:prstGeom>
          <a:noFill/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5701749" y="3477698"/>
            <a:ext cx="595152" cy="243094"/>
          </a:xfrm>
          <a:prstGeom prst="rect">
            <a:avLst/>
          </a:prstGeom>
          <a:noFill/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5688870" y="3728395"/>
            <a:ext cx="611322" cy="267342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316296" y="4515673"/>
            <a:ext cx="22528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smtClean="0">
                <a:solidFill>
                  <a:schemeClr val="bg2">
                    <a:lumMod val="50000"/>
                  </a:schemeClr>
                </a:solidFill>
              </a:rPr>
              <a:t>Terra (0V - GND)</a:t>
            </a:r>
            <a:endParaRPr lang="pt-BR" sz="2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6296901" y="3353548"/>
            <a:ext cx="22528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smtClean="0">
                <a:solidFill>
                  <a:schemeClr val="bg2">
                    <a:lumMod val="50000"/>
                  </a:schemeClr>
                </a:solidFill>
              </a:rPr>
              <a:t>Terra (0V - GND)</a:t>
            </a:r>
            <a:endParaRPr lang="pt-BR" sz="2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22" name="Conector reto 21"/>
          <p:cNvCxnSpPr/>
          <p:nvPr/>
        </p:nvCxnSpPr>
        <p:spPr>
          <a:xfrm flipH="1" flipV="1">
            <a:off x="1619672" y="3997101"/>
            <a:ext cx="1057978" cy="45673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 flipH="1" flipV="1">
            <a:off x="1763689" y="3529215"/>
            <a:ext cx="901687" cy="706734"/>
          </a:xfrm>
          <a:prstGeom prst="line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933145" y="3749246"/>
            <a:ext cx="745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smtClean="0">
                <a:solidFill>
                  <a:schemeClr val="accent4">
                    <a:lumMod val="75000"/>
                  </a:schemeClr>
                </a:solidFill>
              </a:rPr>
              <a:t>+5 V</a:t>
            </a:r>
            <a:endParaRPr lang="pt-BR" sz="2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844348" y="3199993"/>
            <a:ext cx="981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+3,3 V</a:t>
            </a:r>
            <a:endParaRPr lang="pt-BR" sz="2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CaixaDeTexto 26"/>
          <p:cNvSpPr txBox="1"/>
          <p:nvPr/>
        </p:nvSpPr>
        <p:spPr>
          <a:xfrm rot="5400000">
            <a:off x="2565009" y="4670321"/>
            <a:ext cx="24265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smtClean="0">
                <a:solidFill>
                  <a:schemeClr val="bg1">
                    <a:lumMod val="75000"/>
                  </a:schemeClr>
                </a:solidFill>
              </a:rPr>
              <a:t>Microcontrolador</a:t>
            </a:r>
            <a:br>
              <a:rPr lang="pt-BR" sz="2400" b="1" dirty="0" smtClean="0">
                <a:solidFill>
                  <a:schemeClr val="bg1">
                    <a:lumMod val="75000"/>
                  </a:schemeClr>
                </a:solidFill>
              </a:rPr>
            </a:br>
            <a:r>
              <a:rPr lang="pt-BR" sz="2400" b="1" dirty="0" smtClean="0">
                <a:solidFill>
                  <a:schemeClr val="bg1">
                    <a:lumMod val="75000"/>
                  </a:schemeClr>
                </a:solidFill>
              </a:rPr>
              <a:t> ATmega328</a:t>
            </a:r>
            <a:endParaRPr lang="pt-BR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Retângulo 27"/>
          <p:cNvSpPr/>
          <p:nvPr/>
        </p:nvSpPr>
        <p:spPr>
          <a:xfrm>
            <a:off x="4872158" y="3344113"/>
            <a:ext cx="774325" cy="624417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9" name="Retângulo 28"/>
          <p:cNvSpPr/>
          <p:nvPr/>
        </p:nvSpPr>
        <p:spPr>
          <a:xfrm>
            <a:off x="4866922" y="5638175"/>
            <a:ext cx="301254" cy="529233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4127074" y="4652280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smtClean="0">
                <a:solidFill>
                  <a:srgbClr val="FFFF00"/>
                </a:solidFill>
              </a:rPr>
              <a:t>LEDs</a:t>
            </a:r>
            <a:endParaRPr lang="pt-BR" sz="2400" b="1" dirty="0">
              <a:solidFill>
                <a:srgbClr val="FFFF00"/>
              </a:solidFill>
            </a:endParaRPr>
          </a:p>
        </p:txBody>
      </p:sp>
      <p:cxnSp>
        <p:nvCxnSpPr>
          <p:cNvPr id="31" name="Conector reto 30"/>
          <p:cNvCxnSpPr>
            <a:stCxn id="30" idx="0"/>
            <a:endCxn id="28" idx="2"/>
          </p:cNvCxnSpPr>
          <p:nvPr/>
        </p:nvCxnSpPr>
        <p:spPr>
          <a:xfrm flipV="1">
            <a:off x="4518368" y="3968530"/>
            <a:ext cx="740953" cy="68375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>
            <a:stCxn id="30" idx="2"/>
            <a:endCxn id="29" idx="1"/>
          </p:cNvCxnSpPr>
          <p:nvPr/>
        </p:nvCxnSpPr>
        <p:spPr>
          <a:xfrm>
            <a:off x="4518368" y="5113945"/>
            <a:ext cx="348554" cy="788847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-66528" y="6561333"/>
            <a:ext cx="52858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Fonte: </a:t>
            </a:r>
            <a:r>
              <a:rPr lang="pt-BR" dirty="0" smtClean="0"/>
              <a:t>Adaptado pelo autor - </a:t>
            </a:r>
            <a:r>
              <a:rPr lang="pt-BR" dirty="0"/>
              <a:t>https://www.arduino.cc</a:t>
            </a:r>
            <a:r>
              <a:rPr lang="pt-BR" dirty="0" smtClean="0"/>
              <a:t>/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7618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556792"/>
            <a:ext cx="8784976" cy="5400599"/>
          </a:xfrm>
        </p:spPr>
        <p:txBody>
          <a:bodyPr>
            <a:noAutofit/>
          </a:bodyPr>
          <a:lstStyle/>
          <a:p>
            <a:endParaRPr lang="pt-BR" sz="2400" dirty="0" smtClean="0"/>
          </a:p>
          <a:p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  <a:p>
            <a:endParaRPr lang="pt-BR" sz="2400" dirty="0" smtClean="0"/>
          </a:p>
          <a:p>
            <a:pPr marL="0" indent="0">
              <a:buNone/>
            </a:pPr>
            <a:endParaRPr lang="pt-BR" sz="1400" dirty="0" smtClean="0"/>
          </a:p>
          <a:p>
            <a:pPr marL="0" indent="0">
              <a:buNone/>
            </a:pPr>
            <a:r>
              <a:rPr lang="pt-BR" sz="1200" dirty="0" smtClean="0"/>
              <a:t>Fonte: https</a:t>
            </a:r>
            <a:r>
              <a:rPr lang="pt-BR" sz="1200" dirty="0"/>
              <a:t>://www.arduino.cc/en/Main/Boards</a:t>
            </a:r>
            <a:endParaRPr lang="pt-BR" sz="12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err="1" smtClean="0"/>
              <a:t>Arduino</a:t>
            </a:r>
            <a:r>
              <a:rPr lang="pt-BR" dirty="0" smtClean="0"/>
              <a:t> - Versões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88" y="1340768"/>
            <a:ext cx="4152900" cy="248602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913" y="1340768"/>
            <a:ext cx="4286250" cy="271462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88" y="3970809"/>
            <a:ext cx="4229100" cy="249555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907" y="3970809"/>
            <a:ext cx="413385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26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3" y="1556792"/>
            <a:ext cx="8784976" cy="5400599"/>
          </a:xfrm>
        </p:spPr>
        <p:txBody>
          <a:bodyPr>
            <a:noAutofit/>
          </a:bodyPr>
          <a:lstStyle/>
          <a:p>
            <a:endParaRPr lang="pt-BR" sz="2400" dirty="0" smtClean="0"/>
          </a:p>
          <a:p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  <a:p>
            <a:endParaRPr lang="pt-BR" sz="2400" dirty="0" smtClean="0"/>
          </a:p>
          <a:p>
            <a:pPr marL="0" indent="0">
              <a:buNone/>
            </a:pPr>
            <a:endParaRPr lang="pt-BR" sz="1200" dirty="0" smtClean="0"/>
          </a:p>
          <a:p>
            <a:pPr marL="0" indent="0">
              <a:buNone/>
            </a:pPr>
            <a:r>
              <a:rPr lang="pt-BR" sz="1200" dirty="0" smtClean="0"/>
              <a:t>Fonte: https</a:t>
            </a:r>
            <a:r>
              <a:rPr lang="pt-BR" sz="1200" dirty="0"/>
              <a:t>://www.arduino.cc/en/Main/Boards</a:t>
            </a:r>
            <a:endParaRPr lang="pt-BR" sz="12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err="1" smtClean="0"/>
              <a:t>Arduino</a:t>
            </a:r>
            <a:r>
              <a:rPr lang="pt-BR" dirty="0" smtClean="0"/>
              <a:t> - Versões</a:t>
            </a:r>
            <a:endParaRPr lang="pt-BR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38" y="1340768"/>
            <a:ext cx="4238625" cy="234315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903" y="1331109"/>
            <a:ext cx="4229100" cy="250507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76" y="3910775"/>
            <a:ext cx="4333875" cy="2076450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1676" y="3923646"/>
            <a:ext cx="3543300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613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4270336"/>
            <a:ext cx="3495675" cy="2447925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301" y="1772816"/>
            <a:ext cx="3394179" cy="2655193"/>
          </a:xfrm>
          <a:prstGeom prst="rect">
            <a:avLst/>
          </a:prstGeom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r>
              <a:rPr lang="pt-BR" sz="2600" b="1" dirty="0" smtClean="0"/>
              <a:t>Shields são extensões para o </a:t>
            </a:r>
            <a:r>
              <a:rPr lang="pt-BR" sz="2600" b="1" dirty="0" err="1" smtClean="0"/>
              <a:t>Arduino</a:t>
            </a:r>
            <a:r>
              <a:rPr lang="pt-BR" sz="2600" b="1" dirty="0" smtClean="0"/>
              <a:t>:</a:t>
            </a:r>
            <a:endParaRPr lang="pt-BR" sz="2600" dirty="0" smtClean="0"/>
          </a:p>
          <a:p>
            <a:pPr lvl="1"/>
            <a:r>
              <a:rPr lang="pt-BR" sz="2400" dirty="0" smtClean="0"/>
              <a:t>Bluetooth;</a:t>
            </a:r>
          </a:p>
          <a:p>
            <a:pPr lvl="1"/>
            <a:r>
              <a:rPr lang="pt-BR" sz="2400" dirty="0" smtClean="0"/>
              <a:t>Conexão Ethernet;</a:t>
            </a:r>
          </a:p>
          <a:p>
            <a:pPr lvl="1"/>
            <a:r>
              <a:rPr lang="pt-BR" sz="2400" dirty="0" smtClean="0"/>
              <a:t>Ponte H (motores);</a:t>
            </a:r>
          </a:p>
          <a:p>
            <a:pPr lvl="1"/>
            <a:r>
              <a:rPr lang="pt-BR" sz="2400" dirty="0" smtClean="0"/>
              <a:t>Controladora USB;</a:t>
            </a:r>
          </a:p>
          <a:p>
            <a:pPr lvl="1"/>
            <a:r>
              <a:rPr lang="pt-BR" sz="2400" dirty="0" err="1" smtClean="0"/>
              <a:t>Protoboard</a:t>
            </a:r>
            <a:r>
              <a:rPr lang="pt-BR" sz="2400" dirty="0" smtClean="0"/>
              <a:t>;</a:t>
            </a:r>
          </a:p>
          <a:p>
            <a:pPr lvl="1"/>
            <a:r>
              <a:rPr lang="pt-BR" sz="2400" dirty="0" err="1" smtClean="0"/>
              <a:t>MicroSD</a:t>
            </a:r>
            <a:r>
              <a:rPr lang="pt-BR" sz="2400" dirty="0" smtClean="0"/>
              <a:t>/SD;</a:t>
            </a:r>
          </a:p>
          <a:p>
            <a:pPr lvl="1"/>
            <a:r>
              <a:rPr lang="pt-BR" sz="2400" dirty="0" smtClean="0"/>
              <a:t>MP3 player;</a:t>
            </a:r>
          </a:p>
          <a:p>
            <a:pPr lvl="1"/>
            <a:r>
              <a:rPr lang="pt-BR" sz="2400" dirty="0" smtClean="0"/>
              <a:t>Display: 7 segmentos / LCD;</a:t>
            </a:r>
          </a:p>
          <a:p>
            <a:pPr lvl="1"/>
            <a:r>
              <a:rPr lang="pt-BR" sz="2400" dirty="0" smtClean="0"/>
              <a:t>Teclado: numérico/alfanumérico;</a:t>
            </a:r>
          </a:p>
          <a:p>
            <a:pPr lvl="1"/>
            <a:r>
              <a:rPr lang="pt-BR" sz="2400" dirty="0" smtClean="0"/>
              <a:t>Sensores.</a:t>
            </a:r>
          </a:p>
          <a:p>
            <a:pPr marL="0" indent="0">
              <a:buNone/>
            </a:pP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err="1" smtClean="0"/>
              <a:t>Arduino</a:t>
            </a:r>
            <a:r>
              <a:rPr lang="pt-BR" dirty="0" smtClean="0"/>
              <a:t> - Shields</a:t>
            </a:r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6612236" y="6498982"/>
            <a:ext cx="1992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smtClean="0"/>
              <a:t>Fonte: o autor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2002884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r>
              <a:rPr lang="pt-BR" sz="2800" b="1" dirty="0" smtClean="0"/>
              <a:t>Ambiente de Desenvolvimento</a:t>
            </a:r>
          </a:p>
          <a:p>
            <a:pPr lvl="1"/>
            <a:r>
              <a:rPr lang="pt-BR" sz="2400" dirty="0" smtClean="0"/>
              <a:t>C/C++;</a:t>
            </a:r>
          </a:p>
          <a:p>
            <a:pPr lvl="1"/>
            <a:r>
              <a:rPr lang="pt-BR" sz="2400" dirty="0" smtClean="0"/>
              <a:t>Corpo principal do programa:</a:t>
            </a:r>
          </a:p>
          <a:p>
            <a:pPr lvl="2"/>
            <a:r>
              <a:rPr lang="pt-BR" dirty="0" smtClean="0"/>
              <a:t>Setup;</a:t>
            </a:r>
          </a:p>
          <a:p>
            <a:pPr lvl="2"/>
            <a:r>
              <a:rPr lang="pt-BR" dirty="0" smtClean="0"/>
              <a:t>Loop.</a:t>
            </a:r>
          </a:p>
          <a:p>
            <a:pPr lvl="1"/>
            <a:r>
              <a:rPr lang="pt-BR" sz="2400" dirty="0" smtClean="0"/>
              <a:t>Funcionalidades:</a:t>
            </a:r>
          </a:p>
          <a:p>
            <a:pPr lvl="2"/>
            <a:r>
              <a:rPr lang="pt-BR" dirty="0" err="1" smtClean="0"/>
              <a:t>Verify</a:t>
            </a:r>
            <a:r>
              <a:rPr lang="pt-BR" dirty="0" smtClean="0"/>
              <a:t>;</a:t>
            </a:r>
          </a:p>
          <a:p>
            <a:pPr lvl="2"/>
            <a:r>
              <a:rPr lang="pt-BR" dirty="0" smtClean="0"/>
              <a:t>Upload;</a:t>
            </a:r>
          </a:p>
          <a:p>
            <a:pPr lvl="2"/>
            <a:r>
              <a:rPr lang="pt-BR" dirty="0" smtClean="0"/>
              <a:t>Serial Monitor.</a:t>
            </a:r>
            <a:endParaRPr lang="pt-BR" dirty="0"/>
          </a:p>
          <a:p>
            <a:pPr lvl="1"/>
            <a:endParaRPr lang="pt-BR" sz="2400" dirty="0" smtClean="0"/>
          </a:p>
          <a:p>
            <a:endParaRPr lang="pt-BR" sz="2800" dirty="0"/>
          </a:p>
          <a:p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Programando o </a:t>
            </a:r>
            <a:r>
              <a:rPr lang="pt-BR" dirty="0" err="1" smtClean="0"/>
              <a:t>Arduino</a:t>
            </a:r>
            <a:r>
              <a:rPr lang="pt-BR" dirty="0" smtClean="0"/>
              <a:t> - IDE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283" y="1916832"/>
            <a:ext cx="3974389" cy="4620532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6612236" y="6498982"/>
            <a:ext cx="1992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smtClean="0"/>
              <a:t>Fonte: o autor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147027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268761"/>
            <a:ext cx="8784976" cy="5589239"/>
          </a:xfrm>
        </p:spPr>
        <p:txBody>
          <a:bodyPr>
            <a:noAutofit/>
          </a:bodyPr>
          <a:lstStyle/>
          <a:p>
            <a:r>
              <a:rPr lang="pt-BR" dirty="0" smtClean="0"/>
              <a:t>Para mais detalhes e exemplos da utilização do </a:t>
            </a:r>
            <a:r>
              <a:rPr lang="pt-BR" dirty="0" err="1" smtClean="0"/>
              <a:t>Arduino</a:t>
            </a:r>
            <a:r>
              <a:rPr lang="pt-BR" dirty="0" smtClean="0"/>
              <a:t>:</a:t>
            </a:r>
          </a:p>
          <a:p>
            <a:pPr lvl="1"/>
            <a:r>
              <a:rPr lang="pt-BR" dirty="0"/>
              <a:t>MONK, Simon. 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b="1" dirty="0" smtClean="0"/>
              <a:t>Programação </a:t>
            </a:r>
            <a:r>
              <a:rPr lang="pt-BR" b="1" dirty="0"/>
              <a:t>com </a:t>
            </a:r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err="1" smtClean="0"/>
              <a:t>Arduino</a:t>
            </a:r>
            <a:r>
              <a:rPr lang="pt-BR" b="1" dirty="0"/>
              <a:t>: </a:t>
            </a:r>
            <a:r>
              <a:rPr lang="pt-BR" b="1" dirty="0" smtClean="0"/>
              <a:t>começando com</a:t>
            </a:r>
            <a:br>
              <a:rPr lang="pt-BR" b="1" dirty="0" smtClean="0"/>
            </a:br>
            <a:r>
              <a:rPr lang="pt-BR" b="1" dirty="0" smtClean="0"/>
              <a:t>sketches</a:t>
            </a:r>
            <a:r>
              <a:rPr lang="pt-BR" dirty="0" smtClean="0"/>
              <a:t>. Porto </a:t>
            </a:r>
            <a:r>
              <a:rPr lang="pt-BR" dirty="0"/>
              <a:t>Alegre: 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err="1" smtClean="0"/>
              <a:t>Bookman</a:t>
            </a:r>
            <a:r>
              <a:rPr lang="pt-BR" dirty="0"/>
              <a:t>, </a:t>
            </a:r>
            <a:r>
              <a:rPr lang="pt-BR" dirty="0" smtClean="0"/>
              <a:t>2013</a:t>
            </a:r>
            <a:r>
              <a:rPr lang="pt-BR" dirty="0"/>
              <a:t>. 148 p. 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(</a:t>
            </a:r>
            <a:r>
              <a:rPr lang="pt-BR" dirty="0"/>
              <a:t>Série </a:t>
            </a:r>
            <a:r>
              <a:rPr lang="pt-BR" dirty="0" err="1"/>
              <a:t>Tekne</a:t>
            </a:r>
            <a:r>
              <a:rPr lang="pt-BR" dirty="0"/>
              <a:t>) </a:t>
            </a:r>
            <a:r>
              <a:rPr lang="pt-BR" dirty="0" smtClean="0"/>
              <a:t>ISBN </a:t>
            </a:r>
            <a:br>
              <a:rPr lang="pt-BR" dirty="0" smtClean="0"/>
            </a:br>
            <a:r>
              <a:rPr lang="pt-BR" dirty="0" smtClean="0"/>
              <a:t>978-85-8260-026-9</a:t>
            </a:r>
          </a:p>
          <a:p>
            <a:endParaRPr lang="pt-BR" dirty="0" smtClean="0"/>
          </a:p>
          <a:p>
            <a:endParaRPr lang="pt-BR" dirty="0" smtClean="0"/>
          </a:p>
          <a:p>
            <a:pPr lvl="1"/>
            <a:endParaRPr lang="pt-BR" dirty="0" smtClean="0"/>
          </a:p>
          <a:p>
            <a:pPr marL="457200" lvl="1" indent="0">
              <a:buNone/>
            </a:pPr>
            <a:endParaRPr lang="pt-BR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APROFUNDE SEUS </a:t>
            </a:r>
            <a:br>
              <a:rPr lang="pt-BR" dirty="0" smtClean="0"/>
            </a:br>
            <a:r>
              <a:rPr lang="pt-BR" dirty="0" smtClean="0"/>
              <a:t>CONHECIMENTOS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1844824"/>
            <a:ext cx="3312368" cy="47300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38616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r>
              <a:rPr lang="pt-BR" sz="3000" dirty="0" smtClean="0"/>
              <a:t>ARDUINO HOMEPAGE. </a:t>
            </a:r>
            <a:r>
              <a:rPr lang="pt-BR" sz="3000" dirty="0"/>
              <a:t>Disponível em: </a:t>
            </a:r>
            <a:r>
              <a:rPr lang="pt-BR" sz="3000" dirty="0" smtClean="0"/>
              <a:t>&lt;https</a:t>
            </a:r>
            <a:r>
              <a:rPr lang="pt-BR" sz="3000" dirty="0"/>
              <a:t>://www.arduino.cc</a:t>
            </a:r>
            <a:r>
              <a:rPr lang="pt-BR" sz="3000" dirty="0" smtClean="0"/>
              <a:t>/&gt;. Acesso em: 31 de agosto de 2018.</a:t>
            </a:r>
            <a:endParaRPr lang="pt-BR" sz="28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pt-BR" dirty="0"/>
              <a:t>MONK, Simon. </a:t>
            </a:r>
            <a:r>
              <a:rPr lang="pt-BR" b="1" dirty="0" smtClean="0"/>
              <a:t>Programação </a:t>
            </a:r>
            <a:r>
              <a:rPr lang="pt-BR" b="1" dirty="0"/>
              <a:t>com </a:t>
            </a:r>
            <a:r>
              <a:rPr lang="pt-BR" b="1" dirty="0" err="1" smtClean="0"/>
              <a:t>Arduino</a:t>
            </a:r>
            <a:r>
              <a:rPr lang="pt-BR" b="1" dirty="0"/>
              <a:t>: começando </a:t>
            </a:r>
            <a:r>
              <a:rPr lang="pt-BR" b="1" dirty="0" smtClean="0"/>
              <a:t>com sketches</a:t>
            </a:r>
            <a:r>
              <a:rPr lang="pt-BR" dirty="0"/>
              <a:t>. Porto </a:t>
            </a:r>
            <a:r>
              <a:rPr lang="pt-BR" dirty="0" smtClean="0"/>
              <a:t>Alegre: </a:t>
            </a:r>
            <a:r>
              <a:rPr lang="pt-BR" dirty="0" err="1" smtClean="0"/>
              <a:t>Bookman</a:t>
            </a:r>
            <a:r>
              <a:rPr lang="pt-BR" dirty="0"/>
              <a:t>, 2013. </a:t>
            </a: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Referências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9443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3068960"/>
            <a:ext cx="9144000" cy="1470025"/>
          </a:xfrm>
        </p:spPr>
        <p:txBody>
          <a:bodyPr>
            <a:normAutofit/>
          </a:bodyPr>
          <a:lstStyle/>
          <a:p>
            <a:pPr algn="ctr"/>
            <a:r>
              <a:rPr lang="pt-BR" dirty="0" smtClean="0"/>
              <a:t>ARDUINO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0" y="609329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>
                <a:latin typeface="Arial" pitchFamily="34" charset="0"/>
                <a:cs typeface="Arial" pitchFamily="34" charset="0"/>
              </a:rPr>
              <a:t>Prof. Me. Pietro Martins de Oliveira</a:t>
            </a: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50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3068960"/>
            <a:ext cx="9144000" cy="1470025"/>
          </a:xfrm>
        </p:spPr>
        <p:txBody>
          <a:bodyPr>
            <a:normAutofit/>
          </a:bodyPr>
          <a:lstStyle/>
          <a:p>
            <a:pPr algn="ctr"/>
            <a:r>
              <a:rPr lang="pt-BR" dirty="0" smtClean="0"/>
              <a:t>INTRODUÇÃO À ELETRÔNICA BÁSICA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0" y="609329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>
                <a:latin typeface="Arial" pitchFamily="34" charset="0"/>
                <a:cs typeface="Arial" pitchFamily="34" charset="0"/>
              </a:rPr>
              <a:t>Prof. Me. Pietro Martins de Oliveira</a:t>
            </a: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446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268761"/>
            <a:ext cx="8784976" cy="5589239"/>
          </a:xfrm>
        </p:spPr>
        <p:txBody>
          <a:bodyPr>
            <a:noAutofit/>
          </a:bodyPr>
          <a:lstStyle/>
          <a:p>
            <a:r>
              <a:rPr lang="pt-BR" sz="3000" b="1" dirty="0" err="1" smtClean="0"/>
              <a:t>Protoboard</a:t>
            </a:r>
            <a:r>
              <a:rPr lang="pt-BR" sz="3000" b="1" dirty="0" smtClean="0"/>
              <a:t>:</a:t>
            </a:r>
          </a:p>
          <a:p>
            <a:pPr lvl="1"/>
            <a:r>
              <a:rPr lang="pt-BR" sz="2600" dirty="0" smtClean="0"/>
              <a:t>Emula o circuito final: elimina necessidade de soldar;</a:t>
            </a:r>
          </a:p>
          <a:p>
            <a:pPr lvl="1"/>
            <a:r>
              <a:rPr lang="pt-BR" sz="2600" dirty="0" smtClean="0"/>
              <a:t>Útil para conectar componentes e testar o circuito;</a:t>
            </a:r>
          </a:p>
          <a:p>
            <a:pPr lvl="1"/>
            <a:r>
              <a:rPr lang="pt-BR" sz="2600" dirty="0" smtClean="0"/>
              <a:t>Placa com conectores para criar protótipos:</a:t>
            </a:r>
          </a:p>
          <a:p>
            <a:pPr lvl="2"/>
            <a:r>
              <a:rPr lang="pt-BR" sz="2600" dirty="0" smtClean="0"/>
              <a:t>Trilhas horizontais (roxo): um único “fio”;</a:t>
            </a:r>
          </a:p>
          <a:p>
            <a:pPr lvl="2"/>
            <a:r>
              <a:rPr lang="pt-BR" sz="2600" dirty="0" smtClean="0"/>
              <a:t>Trilhas verticais (verde): um único “fio”.</a:t>
            </a:r>
          </a:p>
          <a:p>
            <a:pPr lvl="1"/>
            <a:endParaRPr lang="pt-BR" sz="2600" dirty="0"/>
          </a:p>
          <a:p>
            <a:pPr lvl="1"/>
            <a:endParaRPr lang="pt-BR" sz="2600" dirty="0" smtClean="0"/>
          </a:p>
          <a:p>
            <a:endParaRPr lang="pt-BR" sz="2600" dirty="0" smtClean="0"/>
          </a:p>
          <a:p>
            <a:endParaRPr lang="pt-BR" sz="2600" dirty="0" smtClean="0"/>
          </a:p>
          <a:p>
            <a:pPr marL="457200" lvl="1" indent="0">
              <a:buNone/>
            </a:pPr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Protótipos com Componentes Eletrônicos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4221088"/>
            <a:ext cx="7496175" cy="2505075"/>
          </a:xfrm>
          <a:prstGeom prst="rect">
            <a:avLst/>
          </a:prstGeom>
        </p:spPr>
      </p:pic>
      <p:cxnSp>
        <p:nvCxnSpPr>
          <p:cNvPr id="6" name="Conector de Seta Reta 5"/>
          <p:cNvCxnSpPr/>
          <p:nvPr/>
        </p:nvCxnSpPr>
        <p:spPr>
          <a:xfrm>
            <a:off x="827584" y="4789539"/>
            <a:ext cx="0" cy="576064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/>
          <p:nvPr/>
        </p:nvCxnSpPr>
        <p:spPr>
          <a:xfrm>
            <a:off x="827584" y="5589240"/>
            <a:ext cx="0" cy="576064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 flipH="1" flipV="1">
            <a:off x="1259632" y="6792081"/>
            <a:ext cx="6912768" cy="6091"/>
          </a:xfrm>
          <a:prstGeom prst="straightConnector1">
            <a:avLst/>
          </a:prstGeom>
          <a:ln w="571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/>
          <p:nvPr/>
        </p:nvCxnSpPr>
        <p:spPr>
          <a:xfrm flipH="1" flipV="1">
            <a:off x="1259632" y="4150189"/>
            <a:ext cx="6912768" cy="6091"/>
          </a:xfrm>
          <a:prstGeom prst="straightConnector1">
            <a:avLst/>
          </a:prstGeom>
          <a:ln w="571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/>
          <p:nvPr/>
        </p:nvCxnSpPr>
        <p:spPr>
          <a:xfrm>
            <a:off x="8591569" y="4807408"/>
            <a:ext cx="0" cy="576064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/>
          <p:nvPr/>
        </p:nvCxnSpPr>
        <p:spPr>
          <a:xfrm>
            <a:off x="8591569" y="5607109"/>
            <a:ext cx="0" cy="576064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118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268761"/>
            <a:ext cx="8784976" cy="5589239"/>
          </a:xfrm>
        </p:spPr>
        <p:txBody>
          <a:bodyPr>
            <a:noAutofit/>
          </a:bodyPr>
          <a:lstStyle/>
          <a:p>
            <a:r>
              <a:rPr lang="pt-BR" sz="3000" b="1" dirty="0" err="1" smtClean="0"/>
              <a:t>LEDs</a:t>
            </a:r>
            <a:r>
              <a:rPr lang="pt-BR" sz="3000" b="1" dirty="0" smtClean="0"/>
              <a:t> (</a:t>
            </a:r>
            <a:r>
              <a:rPr lang="pt-BR" sz="3000" b="1" i="1" dirty="0" smtClean="0"/>
              <a:t>Light </a:t>
            </a:r>
            <a:r>
              <a:rPr lang="pt-BR" sz="3000" b="1" i="1" dirty="0" err="1" smtClean="0"/>
              <a:t>Emitting</a:t>
            </a:r>
            <a:r>
              <a:rPr lang="pt-BR" sz="3000" b="1" i="1" dirty="0" smtClean="0"/>
              <a:t> </a:t>
            </a:r>
            <a:r>
              <a:rPr lang="pt-BR" sz="3000" b="1" i="1" dirty="0" err="1" smtClean="0"/>
              <a:t>Diode</a:t>
            </a:r>
            <a:r>
              <a:rPr lang="pt-BR" sz="3000" b="1" dirty="0" smtClean="0"/>
              <a:t>):</a:t>
            </a:r>
          </a:p>
          <a:p>
            <a:pPr lvl="1"/>
            <a:r>
              <a:rPr lang="pt-BR" sz="2600" dirty="0" smtClean="0"/>
              <a:t>Pequenas “lâmpadas”;</a:t>
            </a:r>
          </a:p>
          <a:p>
            <a:pPr lvl="1"/>
            <a:r>
              <a:rPr lang="pt-BR" sz="2600" dirty="0" smtClean="0"/>
              <a:t>Várias cores / Tensões de alimentação variadas;</a:t>
            </a:r>
          </a:p>
          <a:p>
            <a:pPr lvl="1"/>
            <a:r>
              <a:rPr lang="pt-BR" sz="2600" dirty="0" smtClean="0"/>
              <a:t>O acionamento de um LED depende das tensões aplicadas em seus terminais;</a:t>
            </a:r>
          </a:p>
          <a:p>
            <a:pPr lvl="2"/>
            <a:r>
              <a:rPr lang="pt-BR" sz="2200" dirty="0" smtClean="0"/>
              <a:t>Só funciona em “um sentido”.</a:t>
            </a:r>
          </a:p>
          <a:p>
            <a:pPr marL="0" indent="0">
              <a:buNone/>
            </a:pPr>
            <a:endParaRPr lang="pt-BR" sz="3000" dirty="0"/>
          </a:p>
          <a:p>
            <a:pPr marL="0" indent="0">
              <a:buNone/>
            </a:pPr>
            <a:endParaRPr lang="pt-BR" sz="3000" dirty="0" smtClean="0"/>
          </a:p>
          <a:p>
            <a:pPr marL="0" indent="0">
              <a:buNone/>
            </a:pPr>
            <a:endParaRPr lang="pt-BR" sz="3000" dirty="0"/>
          </a:p>
          <a:p>
            <a:pPr marL="0" indent="0">
              <a:buNone/>
            </a:pPr>
            <a:endParaRPr lang="pt-BR" sz="3000" dirty="0" smtClean="0"/>
          </a:p>
          <a:p>
            <a:pPr marL="0" indent="0">
              <a:buNone/>
            </a:pPr>
            <a:endParaRPr lang="pt-BR" sz="1200" dirty="0" smtClean="0"/>
          </a:p>
          <a:p>
            <a:pPr marL="0" indent="0">
              <a:buNone/>
            </a:pPr>
            <a:r>
              <a:rPr lang="pt-BR" sz="1200" dirty="0" smtClean="0"/>
              <a:t>Fonte: pixabay.com</a:t>
            </a:r>
          </a:p>
          <a:p>
            <a:pPr marL="457200" lvl="1" indent="0">
              <a:buNone/>
            </a:pPr>
            <a:endParaRPr lang="pt-BR" sz="2600" dirty="0"/>
          </a:p>
          <a:p>
            <a:pPr lvl="1"/>
            <a:endParaRPr lang="pt-BR" sz="2600" dirty="0" smtClean="0"/>
          </a:p>
          <a:p>
            <a:endParaRPr lang="pt-BR" sz="2600" dirty="0" smtClean="0"/>
          </a:p>
          <a:p>
            <a:endParaRPr lang="pt-BR" sz="2600" dirty="0" smtClean="0"/>
          </a:p>
          <a:p>
            <a:pPr marL="457200" lvl="1" indent="0">
              <a:buNone/>
            </a:pPr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Protótipos com Componentes Eletrônicos</a:t>
            </a:r>
            <a:endParaRPr lang="pt-BR" dirty="0"/>
          </a:p>
        </p:txBody>
      </p:sp>
      <p:pic>
        <p:nvPicPr>
          <p:cNvPr id="1026" name="Picture 2" descr="Arco Ãris Cores EletrÃ´nicos Diodos EletrÃ´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221088"/>
            <a:ext cx="4752528" cy="237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evou, Lampadas De Led, Luz, R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3327744"/>
            <a:ext cx="2343150" cy="323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707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268761"/>
            <a:ext cx="8784976" cy="5589239"/>
          </a:xfrm>
        </p:spPr>
        <p:txBody>
          <a:bodyPr>
            <a:noAutofit/>
          </a:bodyPr>
          <a:lstStyle/>
          <a:p>
            <a:r>
              <a:rPr lang="pt-BR" sz="3000" b="1" dirty="0" smtClean="0"/>
              <a:t>Resistência (</a:t>
            </a:r>
            <a:r>
              <a:rPr lang="pt-BR" sz="3000" b="1" i="1" dirty="0" smtClean="0"/>
              <a:t>Resistor</a:t>
            </a:r>
            <a:r>
              <a:rPr lang="pt-BR" sz="3000" b="1" dirty="0" smtClean="0"/>
              <a:t>):</a:t>
            </a:r>
          </a:p>
          <a:p>
            <a:pPr lvl="1"/>
            <a:r>
              <a:rPr lang="pt-BR" sz="2600" dirty="0" smtClean="0"/>
              <a:t>Cria resistência na corrente elétrica, diminuindo a tensão em seus terminais;</a:t>
            </a:r>
          </a:p>
          <a:p>
            <a:pPr lvl="1"/>
            <a:r>
              <a:rPr lang="pt-BR" sz="2600" dirty="0" smtClean="0"/>
              <a:t>A unidade de medida desse componente é o OHM (letra grega ômega – </a:t>
            </a:r>
            <a:r>
              <a:rPr lang="el-GR" sz="2600" dirty="0" smtClean="0"/>
              <a:t>Ω</a:t>
            </a:r>
            <a:r>
              <a:rPr lang="pt-BR" sz="2600" dirty="0" smtClean="0"/>
              <a:t>);</a:t>
            </a:r>
          </a:p>
          <a:p>
            <a:pPr lvl="1"/>
            <a:r>
              <a:rPr lang="pt-BR" sz="2600" dirty="0" smtClean="0"/>
              <a:t>Úteis para regular a tensão/corrente aplicada à um componente específico;</a:t>
            </a:r>
          </a:p>
          <a:p>
            <a:pPr lvl="1"/>
            <a:r>
              <a:rPr lang="pt-BR" sz="2600" dirty="0" err="1" smtClean="0"/>
              <a:t>Arduino</a:t>
            </a:r>
            <a:r>
              <a:rPr lang="pt-BR" sz="2600" dirty="0" smtClean="0"/>
              <a:t>: pinos digitais trabalham em 5 V (cinco volts) e 40 </a:t>
            </a:r>
            <a:r>
              <a:rPr lang="pt-BR" sz="2600" dirty="0" err="1" smtClean="0"/>
              <a:t>mA</a:t>
            </a:r>
            <a:r>
              <a:rPr lang="pt-BR" sz="2600" dirty="0" smtClean="0"/>
              <a:t> (quarenta </a:t>
            </a:r>
            <a:r>
              <a:rPr lang="pt-BR" sz="2600" dirty="0" err="1" smtClean="0"/>
              <a:t>miliampéres</a:t>
            </a:r>
            <a:r>
              <a:rPr lang="pt-BR" sz="2600" dirty="0" smtClean="0"/>
              <a:t>);</a:t>
            </a:r>
          </a:p>
          <a:p>
            <a:pPr lvl="1"/>
            <a:r>
              <a:rPr lang="pt-BR" sz="2600" dirty="0" smtClean="0"/>
              <a:t>É um componente que pode superaquecer caso sejam aplicadas corrente/voltagem muito altas em seus terminais.</a:t>
            </a:r>
            <a:endParaRPr lang="pt-BR" sz="2200" dirty="0"/>
          </a:p>
          <a:p>
            <a:pPr lvl="1"/>
            <a:endParaRPr lang="pt-BR" sz="2600" dirty="0" smtClean="0"/>
          </a:p>
          <a:p>
            <a:endParaRPr lang="pt-BR" sz="2600" dirty="0" smtClean="0"/>
          </a:p>
          <a:p>
            <a:endParaRPr lang="pt-BR" sz="2600" dirty="0" smtClean="0"/>
          </a:p>
          <a:p>
            <a:pPr marL="457200" lvl="1" indent="0">
              <a:buNone/>
            </a:pPr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Protótipos com Componentes Eletrônicos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954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268761"/>
            <a:ext cx="8784976" cy="5589239"/>
          </a:xfrm>
        </p:spPr>
        <p:txBody>
          <a:bodyPr>
            <a:noAutofit/>
          </a:bodyPr>
          <a:lstStyle/>
          <a:p>
            <a:r>
              <a:rPr lang="pt-BR" sz="3000" b="1" dirty="0" smtClean="0"/>
              <a:t>Resistências</a:t>
            </a:r>
          </a:p>
          <a:p>
            <a:endParaRPr lang="pt-BR" sz="3000" b="1" dirty="0"/>
          </a:p>
          <a:p>
            <a:endParaRPr lang="pt-BR" sz="3000" b="1" dirty="0" smtClean="0"/>
          </a:p>
          <a:p>
            <a:endParaRPr lang="pt-BR" sz="3000" b="1" dirty="0"/>
          </a:p>
          <a:p>
            <a:endParaRPr lang="pt-BR" sz="3000" b="1" dirty="0" smtClean="0"/>
          </a:p>
          <a:p>
            <a:endParaRPr lang="pt-BR" sz="3000" b="1" dirty="0"/>
          </a:p>
          <a:p>
            <a:endParaRPr lang="pt-BR" sz="3000" b="1" dirty="0" smtClean="0"/>
          </a:p>
          <a:p>
            <a:endParaRPr lang="pt-BR" sz="3000" b="1" dirty="0"/>
          </a:p>
          <a:p>
            <a:endParaRPr lang="pt-BR" sz="3000" b="1" dirty="0" smtClean="0"/>
          </a:p>
          <a:p>
            <a:pPr marL="0" indent="0">
              <a:buNone/>
            </a:pPr>
            <a:endParaRPr lang="pt-BR" sz="1400" b="1" dirty="0" smtClean="0"/>
          </a:p>
          <a:p>
            <a:pPr marL="0" indent="0">
              <a:buNone/>
            </a:pPr>
            <a:r>
              <a:rPr lang="pt-BR" sz="1400" b="1" dirty="0" smtClean="0"/>
              <a:t>Fonte: pixabay.com</a:t>
            </a:r>
            <a:endParaRPr lang="pt-BR" sz="1200" dirty="0" smtClean="0"/>
          </a:p>
          <a:p>
            <a:endParaRPr lang="pt-BR" sz="2600" dirty="0" smtClean="0"/>
          </a:p>
          <a:p>
            <a:endParaRPr lang="pt-BR" sz="2600" dirty="0" smtClean="0"/>
          </a:p>
          <a:p>
            <a:pPr marL="457200" lvl="1" indent="0">
              <a:buNone/>
            </a:pPr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Protótipos com Componentes Eletrônicos</a:t>
            </a:r>
            <a:endParaRPr lang="pt-BR" dirty="0"/>
          </a:p>
        </p:txBody>
      </p:sp>
      <p:pic>
        <p:nvPicPr>
          <p:cNvPr id="2050" name="Picture 2" descr="Resistor, EletrÃ´nica, Resistor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868" y="1984184"/>
            <a:ext cx="4474073" cy="253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letrÃ´nica, Componentes, Resistor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303" y="3982103"/>
            <a:ext cx="3836777" cy="2557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EletrÃ´nica, Elemento, Resist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89" y="4329550"/>
            <a:ext cx="3021490" cy="1802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5576" y="1778078"/>
            <a:ext cx="3603504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26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268761"/>
                <a:ext cx="8784976" cy="5589239"/>
              </a:xfrm>
            </p:spPr>
            <p:txBody>
              <a:bodyPr>
                <a:noAutofit/>
              </a:bodyPr>
              <a:lstStyle/>
              <a:p>
                <a:r>
                  <a:rPr lang="pt-BR" sz="3000" b="1" dirty="0" smtClean="0"/>
                  <a:t>Resistências:</a:t>
                </a:r>
              </a:p>
              <a:p>
                <a:pPr lvl="1"/>
                <a:r>
                  <a:rPr lang="pt-BR" sz="2600" dirty="0" smtClean="0"/>
                  <a:t>Como saber qual resistor utilizar? Devemos saber quais são as especificações dos componentes que serão conectados ao resistor: corrente &amp; voltagem;</a:t>
                </a:r>
              </a:p>
              <a:p>
                <a:pPr lvl="1"/>
                <a:r>
                  <a:rPr lang="pt-BR" sz="2600" dirty="0" smtClean="0"/>
                  <a:t>Pode-se empregar a seguinte fórmula para calcular qual é o resistor mais adequado:</a:t>
                </a:r>
              </a:p>
              <a:p>
                <a:pPr lvl="1"/>
                <a:endParaRPr lang="pt-BR" sz="2200" dirty="0" smtClean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𝑽𝒇</m:t>
                          </m:r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𝑽𝒄</m:t>
                          </m:r>
                        </m:num>
                        <m:den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den>
                      </m:f>
                    </m:oMath>
                  </m:oMathPara>
                </a14:m>
                <a:endParaRPr lang="pt-BR" b="1" dirty="0" smtClean="0"/>
              </a:p>
              <a:p>
                <a:pPr lvl="1"/>
                <a:endParaRPr lang="pt-BR" sz="2200" dirty="0" smtClean="0"/>
              </a:p>
              <a:p>
                <a:pPr lvl="1"/>
                <a:r>
                  <a:rPr lang="pt-BR" sz="2600" dirty="0" smtClean="0"/>
                  <a:t>Onde </a:t>
                </a:r>
                <a:r>
                  <a:rPr lang="pt-BR" sz="2600" b="1" i="1" dirty="0" smtClean="0"/>
                  <a:t>R</a:t>
                </a:r>
                <a:r>
                  <a:rPr lang="pt-BR" sz="2600" dirty="0" smtClean="0"/>
                  <a:t> é o valor da resistência, </a:t>
                </a:r>
                <a:r>
                  <a:rPr lang="pt-BR" sz="2600" b="1" i="1" dirty="0" err="1" smtClean="0"/>
                  <a:t>Vc</a:t>
                </a:r>
                <a:r>
                  <a:rPr lang="pt-BR" sz="2600" dirty="0" smtClean="0"/>
                  <a:t> é a voltagem do componente que será conectado ao resistor, </a:t>
                </a:r>
                <a:r>
                  <a:rPr lang="pt-BR" sz="2600" b="1" i="1" dirty="0" err="1" smtClean="0"/>
                  <a:t>Vf</a:t>
                </a:r>
                <a:r>
                  <a:rPr lang="pt-BR" sz="2600" b="1" i="1" dirty="0" smtClean="0"/>
                  <a:t> </a:t>
                </a:r>
                <a:r>
                  <a:rPr lang="pt-BR" sz="2600" dirty="0" smtClean="0"/>
                  <a:t>é a voltagem fornecida e </a:t>
                </a:r>
                <a:r>
                  <a:rPr lang="pt-BR" sz="2600" b="1" i="1" dirty="0" smtClean="0"/>
                  <a:t>i</a:t>
                </a:r>
                <a:r>
                  <a:rPr lang="pt-BR" sz="2600" dirty="0" smtClean="0"/>
                  <a:t> é a corrente do componente.</a:t>
                </a:r>
              </a:p>
              <a:p>
                <a:endParaRPr lang="pt-BR" sz="2600" dirty="0" smtClean="0"/>
              </a:p>
              <a:p>
                <a:endParaRPr lang="pt-BR" sz="2600" dirty="0" smtClean="0"/>
              </a:p>
              <a:p>
                <a:pPr marL="457200" lvl="1" indent="0">
                  <a:buNone/>
                </a:pPr>
                <a:endParaRPr lang="pt-BR" sz="2400" dirty="0" smtClean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268761"/>
                <a:ext cx="8784976" cy="5589239"/>
              </a:xfrm>
              <a:blipFill>
                <a:blip r:embed="rId2"/>
                <a:stretch>
                  <a:fillRect l="-1387" t="-1418" r="-69" b="-25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Protótipos com Componentes Eletrônicos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3773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268761"/>
                <a:ext cx="8784976" cy="5589239"/>
              </a:xfrm>
            </p:spPr>
            <p:txBody>
              <a:bodyPr>
                <a:noAutofit/>
              </a:bodyPr>
              <a:lstStyle/>
              <a:p>
                <a:r>
                  <a:rPr lang="pt-BR" sz="3000" b="1" dirty="0" smtClean="0"/>
                  <a:t>Exemplo de Cálculo de Resistência</a:t>
                </a:r>
              </a:p>
              <a:p>
                <a:pPr lvl="1"/>
                <a:r>
                  <a:rPr lang="pt-BR" sz="2600" dirty="0" smtClean="0"/>
                  <a:t>Considere que o componente é um LED verde que utiliza necessita de uma tensão de 2 V (dois volts) e 35 </a:t>
                </a:r>
                <a:r>
                  <a:rPr lang="pt-BR" sz="2600" dirty="0" err="1" smtClean="0"/>
                  <a:t>mA</a:t>
                </a:r>
                <a:r>
                  <a:rPr lang="pt-BR" sz="2600" dirty="0" smtClean="0"/>
                  <a:t> (trinta e cinco </a:t>
                </a:r>
                <a:r>
                  <a:rPr lang="pt-BR" sz="2600" dirty="0" err="1" smtClean="0"/>
                  <a:t>miliampéres</a:t>
                </a:r>
                <a:r>
                  <a:rPr lang="pt-BR" sz="2600" dirty="0" smtClean="0"/>
                  <a:t>). Sabendo que o </a:t>
                </a:r>
                <a:r>
                  <a:rPr lang="pt-BR" sz="2600" dirty="0" err="1" smtClean="0"/>
                  <a:t>Arduino</a:t>
                </a:r>
                <a:r>
                  <a:rPr lang="pt-BR" sz="2600" dirty="0" smtClean="0"/>
                  <a:t> oferece 5 V de tensão, temos: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t-BR" sz="2800" b="1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1" i="1">
                              <a:latin typeface="Cambria Math" panose="02040503050406030204" pitchFamily="18" charset="0"/>
                            </a:rPr>
                            <m:t>𝑽𝒇</m:t>
                          </m:r>
                          <m:r>
                            <a:rPr lang="pt-BR" sz="2800" b="1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pt-BR" sz="2800" b="1" i="1">
                              <a:latin typeface="Cambria Math" panose="02040503050406030204" pitchFamily="18" charset="0"/>
                            </a:rPr>
                            <m:t>𝑽𝒄</m:t>
                          </m:r>
                        </m:num>
                        <m:den>
                          <m:r>
                            <a:rPr lang="pt-BR" sz="28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den>
                      </m:f>
                    </m:oMath>
                  </m:oMathPara>
                </a14:m>
                <a:endParaRPr lang="pt-BR" sz="2600" dirty="0" smtClean="0"/>
              </a:p>
              <a:p>
                <a:pPr marL="0" indent="0">
                  <a:buNone/>
                </a:pPr>
                <a:endParaRPr lang="pt-BR" sz="26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t-BR" sz="2800" b="1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pt-BR" sz="2800" b="0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0.035</m:t>
                          </m:r>
                        </m:den>
                      </m:f>
                    </m:oMath>
                  </m:oMathPara>
                </a14:m>
                <a:endParaRPr lang="pt-BR" sz="2600" dirty="0" smtClean="0"/>
              </a:p>
              <a:p>
                <a:pPr marL="0" indent="0">
                  <a:buNone/>
                </a:pPr>
                <a:endParaRPr lang="pt-BR" sz="2600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BR" sz="2800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pt-BR" sz="2800" b="1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sz="2600" dirty="0" smtClean="0"/>
                  <a:t> 85,71 </a:t>
                </a:r>
                <a:r>
                  <a:rPr lang="el-GR" sz="2600" dirty="0"/>
                  <a:t>Ω</a:t>
                </a:r>
                <a:endParaRPr lang="pt-BR" sz="2600" dirty="0" smtClean="0"/>
              </a:p>
              <a:p>
                <a:pPr marL="457200" lvl="1" indent="0">
                  <a:buNone/>
                </a:pPr>
                <a:endParaRPr lang="pt-BR" sz="2400" dirty="0" smtClean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268761"/>
                <a:ext cx="8784976" cy="5589239"/>
              </a:xfrm>
              <a:blipFill>
                <a:blip r:embed="rId2"/>
                <a:stretch>
                  <a:fillRect l="-1387" t="-14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Protótipos com Componentes Eletrônicos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3491880" y="5949280"/>
            <a:ext cx="2160240" cy="64807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0375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268761"/>
            <a:ext cx="8784976" cy="5589239"/>
          </a:xfrm>
        </p:spPr>
        <p:txBody>
          <a:bodyPr>
            <a:noAutofit/>
          </a:bodyPr>
          <a:lstStyle/>
          <a:p>
            <a:r>
              <a:rPr lang="pt-BR" sz="3000" b="1" dirty="0" smtClean="0"/>
              <a:t>Exemplo de Cálculo de Resistência:</a:t>
            </a:r>
          </a:p>
          <a:p>
            <a:pPr lvl="1"/>
            <a:r>
              <a:rPr lang="pt-BR" dirty="0" smtClean="0"/>
              <a:t>Não existe um resistor cuja resistência mede exatamente 85,71 </a:t>
            </a:r>
            <a:r>
              <a:rPr lang="el-GR" dirty="0" smtClean="0"/>
              <a:t>Ω</a:t>
            </a:r>
            <a:r>
              <a:rPr lang="pt-BR" dirty="0" smtClean="0"/>
              <a:t>. </a:t>
            </a:r>
          </a:p>
          <a:p>
            <a:pPr lvl="1"/>
            <a:r>
              <a:rPr lang="pt-BR" dirty="0" smtClean="0"/>
              <a:t>Devemos encontrar um resistor com valor de resistência próximo a 85,74 </a:t>
            </a:r>
            <a:r>
              <a:rPr lang="el-GR" dirty="0" smtClean="0"/>
              <a:t>Ω</a:t>
            </a:r>
            <a:r>
              <a:rPr lang="pt-BR" dirty="0" smtClean="0"/>
              <a:t>.</a:t>
            </a:r>
          </a:p>
          <a:p>
            <a:pPr lvl="1"/>
            <a:r>
              <a:rPr lang="pt-BR" dirty="0" smtClean="0"/>
              <a:t>Devemos garantir que o LED não seja danificado por receber tensão ou corrente maiores que o especificado: escolhe-se um valor maior que 85,74 </a:t>
            </a:r>
            <a:r>
              <a:rPr lang="el-GR" dirty="0" smtClean="0"/>
              <a:t>Ω</a:t>
            </a:r>
            <a:r>
              <a:rPr lang="pt-BR" dirty="0" smtClean="0"/>
              <a:t>.</a:t>
            </a:r>
          </a:p>
          <a:p>
            <a:pPr lvl="1"/>
            <a:r>
              <a:rPr lang="pt-BR" u="sng" dirty="0" smtClean="0"/>
              <a:t>O mais próximo, para garantir segurança, é o resistor de 100 </a:t>
            </a:r>
            <a:r>
              <a:rPr lang="el-GR" u="sng" dirty="0" smtClean="0"/>
              <a:t>Ω</a:t>
            </a:r>
            <a:r>
              <a:rPr lang="pt-BR" u="sng" dirty="0" smtClean="0"/>
              <a:t>.</a:t>
            </a:r>
          </a:p>
          <a:p>
            <a:pPr marL="457200" lvl="1" indent="0">
              <a:buNone/>
            </a:pPr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Protótipos com Componentes Eletrônicos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7894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268761"/>
            <a:ext cx="8784976" cy="5589239"/>
          </a:xfrm>
        </p:spPr>
        <p:txBody>
          <a:bodyPr>
            <a:noAutofit/>
          </a:bodyPr>
          <a:lstStyle/>
          <a:p>
            <a:endParaRPr lang="pt-BR" sz="3000" b="1" dirty="0" smtClean="0"/>
          </a:p>
          <a:p>
            <a:endParaRPr lang="pt-BR" sz="3000" b="1" dirty="0"/>
          </a:p>
          <a:p>
            <a:endParaRPr lang="pt-BR" sz="3000" b="1" dirty="0" smtClean="0"/>
          </a:p>
          <a:p>
            <a:endParaRPr lang="pt-BR" sz="3000" b="1" dirty="0"/>
          </a:p>
          <a:p>
            <a:endParaRPr lang="pt-BR" sz="3000" b="1" dirty="0" smtClean="0"/>
          </a:p>
          <a:p>
            <a:endParaRPr lang="pt-BR" sz="3000" b="1" dirty="0"/>
          </a:p>
          <a:p>
            <a:endParaRPr lang="pt-BR" sz="3000" b="1" dirty="0" smtClean="0"/>
          </a:p>
          <a:p>
            <a:endParaRPr lang="pt-BR" sz="3000" b="1" dirty="0"/>
          </a:p>
          <a:p>
            <a:endParaRPr lang="pt-BR" sz="3000" b="1" dirty="0" smtClean="0"/>
          </a:p>
          <a:p>
            <a:endParaRPr lang="pt-BR" sz="2600" dirty="0" smtClean="0"/>
          </a:p>
          <a:p>
            <a:endParaRPr lang="pt-BR" sz="2600" dirty="0" smtClean="0"/>
          </a:p>
          <a:p>
            <a:pPr marL="457200" lvl="1" indent="0">
              <a:buNone/>
            </a:pPr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Protótipos com Componentes Eletrônicos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69" y="1268761"/>
            <a:ext cx="7920065" cy="5601997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3334" y="1412776"/>
            <a:ext cx="1057645" cy="81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123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268761"/>
            <a:ext cx="8784976" cy="5589239"/>
          </a:xfrm>
        </p:spPr>
        <p:txBody>
          <a:bodyPr>
            <a:noAutofit/>
          </a:bodyPr>
          <a:lstStyle/>
          <a:p>
            <a:r>
              <a:rPr lang="pt-BR" dirty="0" smtClean="0"/>
              <a:t>Para mais informações a respeito de circuitos elétricos e seus respectivos componentes:</a:t>
            </a:r>
          </a:p>
          <a:p>
            <a:pPr lvl="1"/>
            <a:r>
              <a:rPr lang="pt-BR" sz="2600" dirty="0"/>
              <a:t>BURIAN JUNIOR, </a:t>
            </a:r>
            <a:r>
              <a:rPr lang="pt-BR" sz="2600" dirty="0" err="1"/>
              <a:t>Yaro</a:t>
            </a:r>
            <a:r>
              <a:rPr lang="pt-BR" sz="2600" dirty="0"/>
              <a:t>; LYRA, </a:t>
            </a:r>
            <a:r>
              <a:rPr lang="pt-BR" sz="2600" dirty="0" smtClean="0"/>
              <a:t/>
            </a:r>
            <a:br>
              <a:rPr lang="pt-BR" sz="2600" dirty="0" smtClean="0"/>
            </a:br>
            <a:r>
              <a:rPr lang="pt-BR" sz="2600" dirty="0" smtClean="0"/>
              <a:t>Ana </a:t>
            </a:r>
            <a:r>
              <a:rPr lang="pt-BR" sz="2600" dirty="0"/>
              <a:t>Cristina C. </a:t>
            </a:r>
            <a:r>
              <a:rPr lang="pt-BR" sz="2600" b="1" dirty="0"/>
              <a:t>Circuitos </a:t>
            </a:r>
            <a:r>
              <a:rPr lang="pt-BR" sz="2600" b="1" dirty="0" smtClean="0"/>
              <a:t/>
            </a:r>
            <a:br>
              <a:rPr lang="pt-BR" sz="2600" b="1" dirty="0" smtClean="0"/>
            </a:br>
            <a:r>
              <a:rPr lang="pt-BR" sz="2600" b="1" dirty="0" smtClean="0"/>
              <a:t>elétricos</a:t>
            </a:r>
            <a:r>
              <a:rPr lang="pt-BR" sz="2600" dirty="0"/>
              <a:t>. São Paulo: </a:t>
            </a:r>
            <a:r>
              <a:rPr lang="pt-BR" sz="2600" dirty="0" smtClean="0"/>
              <a:t/>
            </a:r>
            <a:br>
              <a:rPr lang="pt-BR" sz="2600" dirty="0" smtClean="0"/>
            </a:br>
            <a:r>
              <a:rPr lang="pt-BR" sz="2600" dirty="0" smtClean="0"/>
              <a:t>Prentice-Hall</a:t>
            </a:r>
            <a:r>
              <a:rPr lang="pt-BR" sz="2600" dirty="0"/>
              <a:t>, 2006. </a:t>
            </a:r>
            <a:r>
              <a:rPr lang="pt-BR" sz="2600" dirty="0" smtClean="0"/>
              <a:t/>
            </a:r>
            <a:br>
              <a:rPr lang="pt-BR" sz="2600" dirty="0" smtClean="0"/>
            </a:br>
            <a:r>
              <a:rPr lang="pt-BR" sz="2600" dirty="0" smtClean="0"/>
              <a:t>ISBN </a:t>
            </a:r>
            <a:r>
              <a:rPr lang="pt-BR" sz="2600" dirty="0"/>
              <a:t>9788576050728</a:t>
            </a:r>
          </a:p>
          <a:p>
            <a:endParaRPr lang="pt-BR" sz="2600" dirty="0" smtClean="0"/>
          </a:p>
          <a:p>
            <a:endParaRPr lang="pt-BR" dirty="0" smtClean="0"/>
          </a:p>
          <a:p>
            <a:pPr lvl="1"/>
            <a:endParaRPr lang="pt-BR" dirty="0" smtClean="0"/>
          </a:p>
          <a:p>
            <a:pPr marL="457200" lvl="1" indent="0">
              <a:buNone/>
            </a:pPr>
            <a:endParaRPr lang="pt-BR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APROFUNDE SEUS </a:t>
            </a:r>
            <a:br>
              <a:rPr lang="pt-BR" dirty="0" smtClean="0"/>
            </a:br>
            <a:r>
              <a:rPr lang="pt-BR" dirty="0" smtClean="0"/>
              <a:t>CONHECIMENTOS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725" y="2286944"/>
            <a:ext cx="3133353" cy="450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307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r>
              <a:rPr lang="pt-BR" sz="2800" dirty="0"/>
              <a:t>BURIAN JUNIOR, </a:t>
            </a:r>
            <a:r>
              <a:rPr lang="pt-BR" sz="2800" dirty="0" err="1"/>
              <a:t>Yaro</a:t>
            </a:r>
            <a:r>
              <a:rPr lang="pt-BR" sz="2800" dirty="0"/>
              <a:t>; LYRA, Ana Cristina C. </a:t>
            </a:r>
            <a:r>
              <a:rPr lang="pt-BR" sz="2800" b="1" dirty="0"/>
              <a:t>Circuitos elétricos</a:t>
            </a:r>
            <a:r>
              <a:rPr lang="pt-BR" sz="2800" dirty="0"/>
              <a:t>. São Paulo: Prentice-Hall, 2006.</a:t>
            </a:r>
            <a:endParaRPr lang="pt-BR" sz="28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Referências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2373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3068960"/>
            <a:ext cx="9144000" cy="1470025"/>
          </a:xfrm>
        </p:spPr>
        <p:txBody>
          <a:bodyPr>
            <a:normAutofit/>
          </a:bodyPr>
          <a:lstStyle/>
          <a:p>
            <a:pPr algn="ctr"/>
            <a:r>
              <a:rPr lang="pt-BR" dirty="0" smtClean="0"/>
              <a:t>INTRODUÇÃO À ELETRÔNICA BÁSICA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0" y="609329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>
                <a:latin typeface="Arial" pitchFamily="34" charset="0"/>
                <a:cs typeface="Arial" pitchFamily="34" charset="0"/>
              </a:rPr>
              <a:t>Prof. Me. Pietro Martins de Oliveira</a:t>
            </a: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3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3068960"/>
            <a:ext cx="9144000" cy="1470025"/>
          </a:xfrm>
        </p:spPr>
        <p:txBody>
          <a:bodyPr>
            <a:normAutofit/>
          </a:bodyPr>
          <a:lstStyle/>
          <a:p>
            <a:pPr algn="ctr"/>
            <a:r>
              <a:rPr lang="pt-BR" dirty="0" smtClean="0"/>
              <a:t>EXEMPLOS:</a:t>
            </a:r>
            <a:br>
              <a:rPr lang="pt-BR" dirty="0" smtClean="0"/>
            </a:br>
            <a:r>
              <a:rPr lang="pt-BR" dirty="0" smtClean="0"/>
              <a:t>LED BLINK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0" y="609329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>
                <a:latin typeface="Arial" pitchFamily="34" charset="0"/>
                <a:cs typeface="Arial" pitchFamily="34" charset="0"/>
              </a:rPr>
              <a:t>Prof. Me. Pietro Martins de Oliveira</a:t>
            </a: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29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r>
              <a:rPr lang="pt-BR" sz="3000" b="1" dirty="0" smtClean="0"/>
              <a:t>O exemplo clássico em </a:t>
            </a:r>
            <a:r>
              <a:rPr lang="pt-BR" sz="3000" b="1" dirty="0" err="1" smtClean="0"/>
              <a:t>microcontroladores</a:t>
            </a:r>
            <a:r>
              <a:rPr lang="pt-BR" sz="3000" b="1" dirty="0" smtClean="0"/>
              <a:t>:</a:t>
            </a:r>
            <a:endParaRPr lang="pt-BR" sz="3000" dirty="0"/>
          </a:p>
          <a:p>
            <a:pPr lvl="1"/>
            <a:r>
              <a:rPr lang="pt-BR" dirty="0"/>
              <a:t>Piscar um LED (</a:t>
            </a:r>
            <a:r>
              <a:rPr lang="pt-BR" dirty="0" err="1"/>
              <a:t>led</a:t>
            </a:r>
            <a:r>
              <a:rPr lang="pt-BR" dirty="0"/>
              <a:t> </a:t>
            </a:r>
            <a:r>
              <a:rPr lang="pt-BR" dirty="0" err="1"/>
              <a:t>blink</a:t>
            </a:r>
            <a:r>
              <a:rPr lang="pt-BR" dirty="0" smtClean="0"/>
              <a:t>);</a:t>
            </a:r>
          </a:p>
          <a:p>
            <a:pPr lvl="1"/>
            <a:r>
              <a:rPr lang="pt-BR" dirty="0" smtClean="0"/>
              <a:t>Conectar o </a:t>
            </a:r>
            <a:r>
              <a:rPr lang="pt-BR" dirty="0" err="1" smtClean="0"/>
              <a:t>Arduino</a:t>
            </a:r>
            <a:r>
              <a:rPr lang="pt-BR" dirty="0" smtClean="0"/>
              <a:t> ao computador;</a:t>
            </a:r>
          </a:p>
          <a:p>
            <a:pPr lvl="1"/>
            <a:r>
              <a:rPr lang="pt-BR" dirty="0" smtClean="0"/>
              <a:t>Abrir a IDE do </a:t>
            </a:r>
            <a:r>
              <a:rPr lang="pt-BR" dirty="0" err="1" smtClean="0"/>
              <a:t>Arduino</a:t>
            </a:r>
            <a:r>
              <a:rPr lang="pt-BR" dirty="0" smtClean="0"/>
              <a:t>;</a:t>
            </a:r>
          </a:p>
          <a:p>
            <a:pPr lvl="1"/>
            <a:r>
              <a:rPr lang="pt-BR" dirty="0" smtClean="0"/>
              <a:t>Transcrever o código do exemplo para a IDE;</a:t>
            </a:r>
          </a:p>
          <a:p>
            <a:pPr lvl="1"/>
            <a:r>
              <a:rPr lang="pt-BR" dirty="0" smtClean="0"/>
              <a:t>Ler o programa para interpretar os comandos;</a:t>
            </a:r>
          </a:p>
          <a:p>
            <a:pPr lvl="1"/>
            <a:r>
              <a:rPr lang="pt-BR" dirty="0" smtClean="0"/>
              <a:t>Compilar o programa;</a:t>
            </a:r>
          </a:p>
          <a:p>
            <a:pPr lvl="1"/>
            <a:r>
              <a:rPr lang="pt-BR" dirty="0" smtClean="0"/>
              <a:t>Enviar (upload) o programa da IDE para o </a:t>
            </a:r>
            <a:r>
              <a:rPr lang="pt-BR" dirty="0" err="1" smtClean="0"/>
              <a:t>Arduino</a:t>
            </a:r>
            <a:r>
              <a:rPr lang="pt-BR" dirty="0" smtClean="0"/>
              <a:t>;</a:t>
            </a:r>
          </a:p>
          <a:p>
            <a:pPr lvl="1"/>
            <a:r>
              <a:rPr lang="pt-BR" dirty="0" smtClean="0"/>
              <a:t>Observar a execução (simulador).</a:t>
            </a:r>
          </a:p>
          <a:p>
            <a:pPr lvl="2"/>
            <a:r>
              <a:rPr lang="pt-BR" dirty="0" smtClean="0"/>
              <a:t>https://www.tinkercad.com</a:t>
            </a:r>
          </a:p>
          <a:p>
            <a:endParaRPr lang="pt-BR" sz="2800" dirty="0"/>
          </a:p>
          <a:p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Programando o </a:t>
            </a:r>
            <a:r>
              <a:rPr lang="pt-BR" dirty="0" err="1" smtClean="0"/>
              <a:t>Arduino</a:t>
            </a:r>
            <a:r>
              <a:rPr lang="pt-BR" dirty="0" smtClean="0"/>
              <a:t> - Exemplo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8969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endParaRPr lang="pt-BR" sz="2800" dirty="0"/>
          </a:p>
          <a:p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Hardware – Exemplo “Pisca-pisca”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47" y="1193893"/>
            <a:ext cx="8262689" cy="550845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6612236" y="6498982"/>
            <a:ext cx="10901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 smtClean="0"/>
              <a:t>Fonte: o autor</a:t>
            </a:r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2867414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endParaRPr lang="pt-BR" sz="2800" dirty="0"/>
          </a:p>
          <a:p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Código – Exemplo “Pisca-pisca”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699491"/>
            <a:ext cx="8966116" cy="432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97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endParaRPr lang="pt-BR" sz="2800" dirty="0"/>
          </a:p>
          <a:p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Simulador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41" y="1223643"/>
            <a:ext cx="7896225" cy="5610225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6612236" y="6498982"/>
            <a:ext cx="10901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 smtClean="0"/>
              <a:t>Fonte: o autor</a:t>
            </a:r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000770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r>
              <a:rPr lang="pt-BR" sz="3000" dirty="0" smtClean="0"/>
              <a:t>ARDUINO HOMEPAGE. </a:t>
            </a:r>
            <a:r>
              <a:rPr lang="pt-BR" sz="3000" dirty="0"/>
              <a:t>Disponível em: </a:t>
            </a:r>
            <a:r>
              <a:rPr lang="pt-BR" sz="3000" dirty="0" smtClean="0"/>
              <a:t>&lt;https</a:t>
            </a:r>
            <a:r>
              <a:rPr lang="pt-BR" sz="3000" dirty="0"/>
              <a:t>://www.arduino.cc</a:t>
            </a:r>
            <a:r>
              <a:rPr lang="pt-BR" sz="3000" dirty="0" smtClean="0"/>
              <a:t>/&gt;. Acesso em: 31 de agosto de 2018.</a:t>
            </a:r>
            <a:endParaRPr lang="pt-BR" sz="28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pt-BR" dirty="0"/>
              <a:t>MONK, Simon. </a:t>
            </a:r>
            <a:r>
              <a:rPr lang="pt-BR" b="1" dirty="0" smtClean="0"/>
              <a:t>Programação </a:t>
            </a:r>
            <a:r>
              <a:rPr lang="pt-BR" b="1" dirty="0"/>
              <a:t>com </a:t>
            </a:r>
            <a:r>
              <a:rPr lang="pt-BR" b="1" dirty="0" err="1" smtClean="0"/>
              <a:t>Arduino</a:t>
            </a:r>
            <a:r>
              <a:rPr lang="pt-BR" b="1" dirty="0"/>
              <a:t>: começando </a:t>
            </a:r>
            <a:r>
              <a:rPr lang="pt-BR" b="1" dirty="0" smtClean="0"/>
              <a:t>com sketches</a:t>
            </a:r>
            <a:r>
              <a:rPr lang="pt-BR" dirty="0"/>
              <a:t>. Porto </a:t>
            </a:r>
            <a:r>
              <a:rPr lang="pt-BR" dirty="0" smtClean="0"/>
              <a:t>Alegre: </a:t>
            </a:r>
            <a:r>
              <a:rPr lang="pt-BR" dirty="0" err="1" smtClean="0"/>
              <a:t>Bookman</a:t>
            </a:r>
            <a:r>
              <a:rPr lang="pt-BR" dirty="0"/>
              <a:t>, 2013. </a:t>
            </a: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Referências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28011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3068960"/>
            <a:ext cx="9144000" cy="1470025"/>
          </a:xfrm>
        </p:spPr>
        <p:txBody>
          <a:bodyPr>
            <a:normAutofit/>
          </a:bodyPr>
          <a:lstStyle/>
          <a:p>
            <a:pPr algn="ctr"/>
            <a:r>
              <a:rPr lang="pt-BR" dirty="0" smtClean="0"/>
              <a:t>EXEMPLOS:</a:t>
            </a:r>
            <a:br>
              <a:rPr lang="pt-BR" dirty="0" smtClean="0"/>
            </a:br>
            <a:r>
              <a:rPr lang="pt-BR" dirty="0" smtClean="0"/>
              <a:t>LED BLINK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0" y="609329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>
                <a:latin typeface="Arial" pitchFamily="34" charset="0"/>
                <a:cs typeface="Arial" pitchFamily="34" charset="0"/>
              </a:rPr>
              <a:t>Prof. Me. Pietro Martins de Oliveira</a:t>
            </a: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290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3068960"/>
            <a:ext cx="9144000" cy="1470025"/>
          </a:xfrm>
        </p:spPr>
        <p:txBody>
          <a:bodyPr>
            <a:normAutofit/>
          </a:bodyPr>
          <a:lstStyle/>
          <a:p>
            <a:pPr algn="ctr"/>
            <a:r>
              <a:rPr lang="pt-BR" dirty="0" smtClean="0"/>
              <a:t>EXEMPLOS:</a:t>
            </a:r>
            <a:br>
              <a:rPr lang="pt-BR" dirty="0" smtClean="0"/>
            </a:br>
            <a:r>
              <a:rPr lang="pt-BR" dirty="0" smtClean="0"/>
              <a:t>SINAIS ANALÓGICOS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0" y="609329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>
                <a:latin typeface="Arial" pitchFamily="34" charset="0"/>
                <a:cs typeface="Arial" pitchFamily="34" charset="0"/>
              </a:rPr>
              <a:t>Prof. Me. Pietro Martins de Oliveira</a:t>
            </a: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72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r>
              <a:rPr lang="pt-BR" sz="3000" b="1" dirty="0" smtClean="0"/>
              <a:t>Antes da eletrônica digital: sinais analógicos.</a:t>
            </a:r>
          </a:p>
          <a:p>
            <a:r>
              <a:rPr lang="pt-BR" sz="3000" b="1" dirty="0" smtClean="0"/>
              <a:t>Potenciômetro:</a:t>
            </a:r>
            <a:endParaRPr lang="pt-BR" sz="3000" b="1" dirty="0"/>
          </a:p>
          <a:p>
            <a:pPr lvl="1"/>
            <a:r>
              <a:rPr lang="pt-BR" sz="2600" dirty="0" smtClean="0"/>
              <a:t>Resistência variável;</a:t>
            </a:r>
          </a:p>
          <a:p>
            <a:pPr lvl="1"/>
            <a:r>
              <a:rPr lang="pt-BR" sz="2600" dirty="0" smtClean="0"/>
              <a:t>Controla a corrente/tensão aplicada ao terminal central;</a:t>
            </a:r>
          </a:p>
          <a:p>
            <a:pPr lvl="1"/>
            <a:r>
              <a:rPr lang="pt-BR" sz="2600" dirty="0" smtClean="0"/>
              <a:t>Regula um sinal de maneira </a:t>
            </a:r>
            <a:br>
              <a:rPr lang="pt-BR" sz="2600" dirty="0" smtClean="0"/>
            </a:br>
            <a:r>
              <a:rPr lang="pt-BR" sz="2600" dirty="0" smtClean="0"/>
              <a:t>analógica.</a:t>
            </a:r>
          </a:p>
          <a:p>
            <a:r>
              <a:rPr lang="pt-BR" sz="3000" b="1" dirty="0" smtClean="0"/>
              <a:t>Exemplo</a:t>
            </a:r>
            <a:r>
              <a:rPr lang="pt-BR" sz="3000" dirty="0" smtClean="0"/>
              <a:t>:</a:t>
            </a:r>
          </a:p>
          <a:p>
            <a:pPr lvl="1"/>
            <a:r>
              <a:rPr lang="pt-BR" sz="2600" dirty="0" smtClean="0"/>
              <a:t>Controlar a velocidade de</a:t>
            </a:r>
            <a:br>
              <a:rPr lang="pt-BR" sz="2600" dirty="0" smtClean="0"/>
            </a:br>
            <a:r>
              <a:rPr lang="pt-BR" sz="2600" dirty="0" smtClean="0"/>
              <a:t>acionamento de um conjunto</a:t>
            </a:r>
            <a:br>
              <a:rPr lang="pt-BR" sz="2600" dirty="0" smtClean="0"/>
            </a:br>
            <a:r>
              <a:rPr lang="pt-BR" sz="2600" dirty="0" smtClean="0"/>
              <a:t>de </a:t>
            </a:r>
            <a:r>
              <a:rPr lang="pt-BR" sz="2600" dirty="0" err="1" smtClean="0"/>
              <a:t>LEDs</a:t>
            </a:r>
            <a:r>
              <a:rPr lang="pt-BR" sz="2600" dirty="0" smtClean="0"/>
              <a:t>.</a:t>
            </a:r>
          </a:p>
          <a:p>
            <a:pPr lvl="1"/>
            <a:endParaRPr lang="pt-BR" sz="2600" dirty="0"/>
          </a:p>
          <a:p>
            <a:endParaRPr lang="pt-BR" sz="2800" dirty="0"/>
          </a:p>
          <a:p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Exemplo - Potenciômetro</a:t>
            </a:r>
            <a:endParaRPr lang="pt-BR" dirty="0"/>
          </a:p>
        </p:txBody>
      </p:sp>
      <p:pic>
        <p:nvPicPr>
          <p:cNvPr id="1026" name="Picture 2" descr="Resultado de imagem para potenciomet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4077072"/>
            <a:ext cx="2448272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5618761" y="6453336"/>
            <a:ext cx="312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Fonte: commons.wikimedia.org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7007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endParaRPr lang="pt-BR" sz="2800" dirty="0"/>
          </a:p>
          <a:p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Hardware</a:t>
            </a:r>
            <a:br>
              <a:rPr lang="pt-BR" dirty="0" smtClean="0"/>
            </a:br>
            <a:r>
              <a:rPr lang="pt-BR" dirty="0" smtClean="0"/>
              <a:t>Exemplo Potenciômetro</a:t>
            </a: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196752"/>
            <a:ext cx="7505615" cy="5636829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7103592" y="6464190"/>
            <a:ext cx="10901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 smtClean="0"/>
              <a:t>Fonte: o autor</a:t>
            </a:r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004569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endParaRPr lang="pt-BR" sz="2800" dirty="0"/>
          </a:p>
          <a:p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Software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Exemplo Potenciômetro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259904" y="1493168"/>
            <a:ext cx="8784976" cy="5400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byte 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ledPin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[] = {2,4,6,8,10,13};</a:t>
            </a:r>
          </a:p>
          <a:p>
            <a:pPr marL="0" indent="0">
              <a:buNone/>
            </a:pP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ledDelay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potPin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 = 2</a:t>
            </a:r>
            <a:r>
              <a:rPr lang="pt-BR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pt-BR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2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setup(){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for(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 x=0; x&lt;6; x++){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pinMode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ledPin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[x], OUTPUT);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pt-BR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56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endParaRPr lang="pt-BR" sz="2800" dirty="0"/>
          </a:p>
          <a:p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Software (continuação)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Exemplo Potenciômetro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259904" y="1493168"/>
            <a:ext cx="8784976" cy="5400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loop(){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ledDelay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analogRead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potPin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for(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 x=0; x&lt;6; x++)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digitalWrite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ledPin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[x], HIGH);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delay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ledDelay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digitalWrite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ledPin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[x], LOW);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delay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ledDelay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pt-BR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53444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r>
              <a:rPr lang="pt-BR" sz="3000" dirty="0" smtClean="0"/>
              <a:t>ARDUINO HOMEPAGE. </a:t>
            </a:r>
            <a:r>
              <a:rPr lang="pt-BR" sz="3000" dirty="0"/>
              <a:t>Disponível em: </a:t>
            </a:r>
            <a:r>
              <a:rPr lang="pt-BR" sz="3000" dirty="0" smtClean="0"/>
              <a:t>&lt;https</a:t>
            </a:r>
            <a:r>
              <a:rPr lang="pt-BR" sz="3000" dirty="0"/>
              <a:t>://www.arduino.cc</a:t>
            </a:r>
            <a:r>
              <a:rPr lang="pt-BR" sz="3000" dirty="0" smtClean="0"/>
              <a:t>/&gt;. Acesso em: 31 de agosto de 2018.</a:t>
            </a:r>
            <a:endParaRPr lang="pt-BR" sz="28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pt-BR" dirty="0"/>
              <a:t>MONK, Simon. </a:t>
            </a:r>
            <a:r>
              <a:rPr lang="pt-BR" b="1" dirty="0" smtClean="0"/>
              <a:t>Programação </a:t>
            </a:r>
            <a:r>
              <a:rPr lang="pt-BR" b="1" dirty="0"/>
              <a:t>com </a:t>
            </a:r>
            <a:r>
              <a:rPr lang="pt-BR" b="1" dirty="0" err="1" smtClean="0"/>
              <a:t>Arduino</a:t>
            </a:r>
            <a:r>
              <a:rPr lang="pt-BR" b="1" dirty="0"/>
              <a:t>: começando </a:t>
            </a:r>
            <a:r>
              <a:rPr lang="pt-BR" b="1" dirty="0" smtClean="0"/>
              <a:t>com sketches</a:t>
            </a:r>
            <a:r>
              <a:rPr lang="pt-BR" dirty="0"/>
              <a:t>. Porto </a:t>
            </a:r>
            <a:r>
              <a:rPr lang="pt-BR" dirty="0" smtClean="0"/>
              <a:t>Alegre: </a:t>
            </a:r>
            <a:r>
              <a:rPr lang="pt-BR" dirty="0" err="1" smtClean="0"/>
              <a:t>Bookman</a:t>
            </a:r>
            <a:r>
              <a:rPr lang="pt-BR" dirty="0"/>
              <a:t>, 2013. </a:t>
            </a: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Referências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7736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3068960"/>
            <a:ext cx="9144000" cy="1470025"/>
          </a:xfrm>
        </p:spPr>
        <p:txBody>
          <a:bodyPr>
            <a:normAutofit/>
          </a:bodyPr>
          <a:lstStyle/>
          <a:p>
            <a:pPr algn="ctr"/>
            <a:r>
              <a:rPr lang="pt-BR" dirty="0" smtClean="0"/>
              <a:t>EXEMPLOS:</a:t>
            </a:r>
            <a:br>
              <a:rPr lang="pt-BR" dirty="0" smtClean="0"/>
            </a:br>
            <a:r>
              <a:rPr lang="pt-BR" dirty="0" smtClean="0"/>
              <a:t>SINAIS ANALÓGICOS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0" y="609329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>
                <a:latin typeface="Arial" pitchFamily="34" charset="0"/>
                <a:cs typeface="Arial" pitchFamily="34" charset="0"/>
              </a:rPr>
              <a:t>Prof. Me. Pietro Martins de Oliveira</a:t>
            </a: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14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3068960"/>
            <a:ext cx="9144000" cy="1470025"/>
          </a:xfrm>
        </p:spPr>
        <p:txBody>
          <a:bodyPr>
            <a:normAutofit/>
          </a:bodyPr>
          <a:lstStyle/>
          <a:p>
            <a:pPr algn="ctr"/>
            <a:r>
              <a:rPr lang="pt-BR" dirty="0" smtClean="0"/>
              <a:t>EXEMPLOS:</a:t>
            </a:r>
            <a:br>
              <a:rPr lang="pt-BR" dirty="0" smtClean="0"/>
            </a:br>
            <a:r>
              <a:rPr lang="pt-BR" dirty="0" smtClean="0"/>
              <a:t>VALORES ALEATÓRIOS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0" y="609329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>
                <a:latin typeface="Arial" pitchFamily="34" charset="0"/>
                <a:cs typeface="Arial" pitchFamily="34" charset="0"/>
              </a:rPr>
              <a:t>Prof. Me. Pietro Martins de Oliveira</a:t>
            </a: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49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r>
              <a:rPr lang="pt-BR" b="1" dirty="0" smtClean="0"/>
              <a:t>Valores aleatórios:</a:t>
            </a:r>
          </a:p>
          <a:p>
            <a:pPr lvl="1"/>
            <a:r>
              <a:rPr lang="pt-BR" dirty="0" smtClean="0"/>
              <a:t>Depende das circunstâncias incertas;</a:t>
            </a:r>
          </a:p>
          <a:p>
            <a:pPr lvl="1"/>
            <a:r>
              <a:rPr lang="pt-BR" dirty="0" smtClean="0"/>
              <a:t>Difícil de prever;</a:t>
            </a:r>
          </a:p>
          <a:p>
            <a:pPr lvl="1"/>
            <a:r>
              <a:rPr lang="pt-BR" dirty="0" smtClean="0"/>
              <a:t>Também conhecidos como valores randômicos.</a:t>
            </a:r>
          </a:p>
          <a:p>
            <a:pPr lvl="1"/>
            <a:endParaRPr lang="pt-BR" dirty="0" smtClean="0"/>
          </a:p>
          <a:p>
            <a:r>
              <a:rPr lang="pt-BR" b="1" dirty="0" smtClean="0"/>
              <a:t>Exemplo</a:t>
            </a:r>
            <a:r>
              <a:rPr lang="pt-BR" dirty="0" smtClean="0"/>
              <a:t>:</a:t>
            </a:r>
          </a:p>
          <a:p>
            <a:pPr lvl="1"/>
            <a:r>
              <a:rPr lang="pt-BR" dirty="0" smtClean="0"/>
              <a:t>Acionar três </a:t>
            </a:r>
            <a:r>
              <a:rPr lang="pt-BR" dirty="0" err="1" smtClean="0"/>
              <a:t>LEDs</a:t>
            </a:r>
            <a:r>
              <a:rPr lang="pt-BR" dirty="0" smtClean="0"/>
              <a:t>, cada um independente do outro;</a:t>
            </a:r>
          </a:p>
          <a:p>
            <a:pPr lvl="1"/>
            <a:r>
              <a:rPr lang="pt-BR" dirty="0" smtClean="0"/>
              <a:t>Os </a:t>
            </a:r>
            <a:r>
              <a:rPr lang="pt-BR" dirty="0" err="1" smtClean="0"/>
              <a:t>LEDs</a:t>
            </a:r>
            <a:r>
              <a:rPr lang="pt-BR" dirty="0" smtClean="0"/>
              <a:t> terão suas intensidades alteradas aleatoriamente.</a:t>
            </a:r>
          </a:p>
          <a:p>
            <a:pPr lvl="1"/>
            <a:endParaRPr lang="pt-BR" sz="3200" dirty="0" smtClean="0"/>
          </a:p>
          <a:p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Exemplo - Aleatório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0591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endParaRPr lang="pt-BR" sz="2800" dirty="0"/>
          </a:p>
          <a:p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Hardware</a:t>
            </a:r>
            <a:br>
              <a:rPr lang="pt-BR" dirty="0" smtClean="0"/>
            </a:br>
            <a:r>
              <a:rPr lang="pt-BR" dirty="0" smtClean="0"/>
              <a:t>Exemplo Aleatório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196752"/>
            <a:ext cx="6336704" cy="5658982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1403648" y="6498982"/>
            <a:ext cx="10901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 smtClean="0"/>
              <a:t>Fonte: o autor</a:t>
            </a:r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788236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endParaRPr lang="pt-BR" sz="2800" dirty="0"/>
          </a:p>
          <a:p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Software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Exemplo Aleatório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259904" y="1493168"/>
            <a:ext cx="8784976" cy="5400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 ledPin1 = 9;</a:t>
            </a:r>
          </a:p>
          <a:p>
            <a:pPr marL="0" indent="0">
              <a:buNone/>
            </a:pP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 ledPin2 = 10;</a:t>
            </a:r>
          </a:p>
          <a:p>
            <a:pPr marL="0" indent="0">
              <a:buNone/>
            </a:pP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 ledPin3 = 11</a:t>
            </a:r>
            <a:r>
              <a:rPr lang="pt-BR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pt-BR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 setup() {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pinMode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(ledPin1, OUTPUT);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pinMode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(ledPin2, OUTPUT);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pinMode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(ledPin3, OUTPUT);</a:t>
            </a:r>
          </a:p>
          <a:p>
            <a:pPr marL="0" indent="0">
              <a:buNone/>
            </a:pPr>
            <a:r>
              <a:rPr lang="pt-BR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824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endParaRPr lang="pt-BR" sz="2800" dirty="0"/>
          </a:p>
          <a:p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Software (continuação)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Exemplo Aleatório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259904" y="1493168"/>
            <a:ext cx="8784976" cy="5400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 loop() {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analogWrite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(ledPin1, 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random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(256));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analogWrite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(ledPin2, 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random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(256));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analogWrite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(ledPin3, 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random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(256));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delay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random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(100));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82827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r>
              <a:rPr lang="pt-BR" sz="3000" dirty="0" smtClean="0"/>
              <a:t>ARDUINO HOMEPAGE. </a:t>
            </a:r>
            <a:r>
              <a:rPr lang="pt-BR" sz="3000" dirty="0"/>
              <a:t>Disponível em: </a:t>
            </a:r>
            <a:r>
              <a:rPr lang="pt-BR" sz="3000" dirty="0" smtClean="0"/>
              <a:t>&lt;https</a:t>
            </a:r>
            <a:r>
              <a:rPr lang="pt-BR" sz="3000" dirty="0"/>
              <a:t>://www.arduino.cc</a:t>
            </a:r>
            <a:r>
              <a:rPr lang="pt-BR" sz="3000" dirty="0" smtClean="0"/>
              <a:t>/&gt;. Acesso em: 31 de agosto de 2018.</a:t>
            </a:r>
            <a:endParaRPr lang="pt-BR" sz="28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pt-BR" dirty="0"/>
              <a:t>MONK, Simon. </a:t>
            </a:r>
            <a:r>
              <a:rPr lang="pt-BR" b="1" dirty="0" smtClean="0"/>
              <a:t>Programação </a:t>
            </a:r>
            <a:r>
              <a:rPr lang="pt-BR" b="1" dirty="0"/>
              <a:t>com </a:t>
            </a:r>
            <a:r>
              <a:rPr lang="pt-BR" b="1" dirty="0" err="1" smtClean="0"/>
              <a:t>Arduino</a:t>
            </a:r>
            <a:r>
              <a:rPr lang="pt-BR" b="1" dirty="0"/>
              <a:t>: começando </a:t>
            </a:r>
            <a:r>
              <a:rPr lang="pt-BR" b="1" dirty="0" smtClean="0"/>
              <a:t>com sketches</a:t>
            </a:r>
            <a:r>
              <a:rPr lang="pt-BR" dirty="0"/>
              <a:t>. Porto </a:t>
            </a:r>
            <a:r>
              <a:rPr lang="pt-BR" dirty="0" smtClean="0"/>
              <a:t>Alegre: </a:t>
            </a:r>
            <a:r>
              <a:rPr lang="pt-BR" dirty="0" err="1" smtClean="0"/>
              <a:t>Bookman</a:t>
            </a:r>
            <a:r>
              <a:rPr lang="pt-BR" dirty="0"/>
              <a:t>, 2013. </a:t>
            </a: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Referências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151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3068960"/>
            <a:ext cx="9144000" cy="1470025"/>
          </a:xfrm>
        </p:spPr>
        <p:txBody>
          <a:bodyPr>
            <a:normAutofit/>
          </a:bodyPr>
          <a:lstStyle/>
          <a:p>
            <a:pPr algn="ctr"/>
            <a:r>
              <a:rPr lang="pt-BR" dirty="0" smtClean="0"/>
              <a:t>EXEMPLOS:</a:t>
            </a:r>
            <a:br>
              <a:rPr lang="pt-BR" dirty="0" smtClean="0"/>
            </a:br>
            <a:r>
              <a:rPr lang="pt-BR" dirty="0" smtClean="0"/>
              <a:t>VALORES ALEATÓRIOS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0" y="609329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>
                <a:latin typeface="Arial" pitchFamily="34" charset="0"/>
                <a:cs typeface="Arial" pitchFamily="34" charset="0"/>
              </a:rPr>
              <a:t>Prof. Me. Pietro Martins de Oliveira</a:t>
            </a: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563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3068960"/>
            <a:ext cx="9144000" cy="1470025"/>
          </a:xfrm>
        </p:spPr>
        <p:txBody>
          <a:bodyPr>
            <a:normAutofit/>
          </a:bodyPr>
          <a:lstStyle/>
          <a:p>
            <a:pPr algn="ctr"/>
            <a:r>
              <a:rPr lang="pt-BR" dirty="0" smtClean="0"/>
              <a:t>EXEMPLOS:</a:t>
            </a:r>
            <a:br>
              <a:rPr lang="pt-BR" dirty="0" smtClean="0"/>
            </a:br>
            <a:r>
              <a:rPr lang="pt-BR" dirty="0" smtClean="0"/>
              <a:t>LIQUID CRYSTAL DISPLAY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0" y="609329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>
                <a:latin typeface="Arial" pitchFamily="34" charset="0"/>
                <a:cs typeface="Arial" pitchFamily="34" charset="0"/>
              </a:rPr>
              <a:t>Prof. Me. Pietro Martins de Oliveira</a:t>
            </a: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10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r>
              <a:rPr lang="pt-BR" b="1" dirty="0" smtClean="0"/>
              <a:t>Display LCD</a:t>
            </a:r>
          </a:p>
          <a:p>
            <a:pPr lvl="1"/>
            <a:r>
              <a:rPr lang="pt-BR" dirty="0" err="1" smtClean="0"/>
              <a:t>Liquid</a:t>
            </a:r>
            <a:r>
              <a:rPr lang="pt-BR" dirty="0" smtClean="0"/>
              <a:t> Crystal Display;</a:t>
            </a:r>
          </a:p>
          <a:p>
            <a:pPr lvl="1"/>
            <a:r>
              <a:rPr lang="pt-BR" dirty="0" smtClean="0"/>
              <a:t>Existem diversos modelos/fabricantes p/ </a:t>
            </a:r>
            <a:r>
              <a:rPr lang="pt-BR" dirty="0" err="1" smtClean="0"/>
              <a:t>Arduino</a:t>
            </a:r>
            <a:r>
              <a:rPr lang="pt-BR" dirty="0" smtClean="0"/>
              <a:t>;</a:t>
            </a:r>
          </a:p>
          <a:p>
            <a:pPr lvl="1"/>
            <a:r>
              <a:rPr lang="pt-BR" dirty="0" smtClean="0"/>
              <a:t>Mais comum: 2 linhas × 16 colunas:</a:t>
            </a:r>
          </a:p>
          <a:p>
            <a:pPr lvl="2"/>
            <a:r>
              <a:rPr lang="pt-BR" dirty="0" smtClean="0"/>
              <a:t>Dezesseis caracteres por linha.</a:t>
            </a:r>
          </a:p>
          <a:p>
            <a:pPr lvl="1"/>
            <a:r>
              <a:rPr lang="pt-BR" dirty="0" smtClean="0"/>
              <a:t>4 bits ou 8 bits.</a:t>
            </a:r>
          </a:p>
          <a:p>
            <a:pPr lvl="1"/>
            <a:r>
              <a:rPr lang="pt-BR" u="sng" dirty="0" smtClean="0"/>
              <a:t>Pinos básicos</a:t>
            </a:r>
            <a:r>
              <a:rPr lang="pt-BR" dirty="0" smtClean="0"/>
              <a:t>:</a:t>
            </a:r>
          </a:p>
          <a:p>
            <a:pPr lvl="2"/>
            <a:r>
              <a:rPr lang="pt-BR" dirty="0" smtClean="0"/>
              <a:t>RS: </a:t>
            </a:r>
            <a:r>
              <a:rPr lang="pt-BR" i="1" dirty="0" err="1" smtClean="0"/>
              <a:t>register</a:t>
            </a:r>
            <a:r>
              <a:rPr lang="pt-BR" i="1" dirty="0" smtClean="0"/>
              <a:t> </a:t>
            </a:r>
            <a:r>
              <a:rPr lang="pt-BR" i="1" dirty="0" err="1" smtClean="0"/>
              <a:t>select</a:t>
            </a:r>
            <a:r>
              <a:rPr lang="pt-BR" i="1" dirty="0" smtClean="0"/>
              <a:t>;</a:t>
            </a:r>
          </a:p>
          <a:p>
            <a:pPr lvl="2"/>
            <a:r>
              <a:rPr lang="pt-BR" dirty="0" smtClean="0"/>
              <a:t>E: </a:t>
            </a:r>
            <a:r>
              <a:rPr lang="pt-BR" i="1" dirty="0" err="1" smtClean="0"/>
              <a:t>enable</a:t>
            </a:r>
            <a:r>
              <a:rPr lang="pt-BR" i="1" dirty="0" smtClean="0"/>
              <a:t>;</a:t>
            </a:r>
          </a:p>
          <a:p>
            <a:pPr lvl="2"/>
            <a:r>
              <a:rPr lang="pt-BR" dirty="0" smtClean="0"/>
              <a:t>D0 a D7: bits p/ </a:t>
            </a:r>
            <a:r>
              <a:rPr lang="pt-BR" dirty="0" err="1" smtClean="0"/>
              <a:t>repre</a:t>
            </a:r>
            <a:r>
              <a:rPr lang="pt-BR" dirty="0" smtClean="0"/>
              <a:t>-</a:t>
            </a:r>
            <a:br>
              <a:rPr lang="pt-BR" dirty="0" smtClean="0"/>
            </a:br>
            <a:r>
              <a:rPr lang="pt-BR" dirty="0" err="1" smtClean="0"/>
              <a:t>sentação</a:t>
            </a:r>
            <a:r>
              <a:rPr lang="pt-BR" dirty="0" smtClean="0"/>
              <a:t> do caractere.</a:t>
            </a:r>
          </a:p>
          <a:p>
            <a:pPr lvl="1"/>
            <a:endParaRPr lang="pt-BR" sz="3200" dirty="0" smtClean="0"/>
          </a:p>
          <a:p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Exemplo - LCD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3861048"/>
            <a:ext cx="3960440" cy="2675438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5436096" y="6510534"/>
            <a:ext cx="21638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smtClean="0"/>
              <a:t>Fonte: flikr.com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509360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endParaRPr lang="pt-BR" sz="2800" dirty="0"/>
          </a:p>
          <a:p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Hardware</a:t>
            </a:r>
            <a:br>
              <a:rPr lang="pt-BR" dirty="0" smtClean="0"/>
            </a:br>
            <a:r>
              <a:rPr lang="pt-BR" dirty="0" smtClean="0"/>
              <a:t>Exemplo LCD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824" y="1196752"/>
            <a:ext cx="7632624" cy="561129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6612236" y="6498982"/>
            <a:ext cx="1992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smtClean="0"/>
              <a:t>Fonte: o autor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2564500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endParaRPr lang="pt-BR" sz="2800" dirty="0"/>
          </a:p>
          <a:p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Software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Exemplo </a:t>
            </a:r>
            <a:r>
              <a:rPr lang="pt-BR" dirty="0" smtClean="0"/>
              <a:t>LCD</a:t>
            </a:r>
            <a:endParaRPr lang="pt-BR" dirty="0"/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259904" y="1493168"/>
            <a:ext cx="8784976" cy="5400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LiquidCrystal.h</a:t>
            </a:r>
            <a:r>
              <a:rPr lang="pt-BR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pt-BR" sz="28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//Biblioteca LCD</a:t>
            </a:r>
          </a:p>
          <a:p>
            <a:pPr marL="0" indent="0">
              <a:buNone/>
            </a:pPr>
            <a:r>
              <a:rPr lang="pt-BR" sz="28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pt-BR" sz="2800" dirty="0" err="1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lcd</a:t>
            </a:r>
            <a:r>
              <a:rPr lang="pt-BR" sz="28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(RS, E, D4, D5, D6, D7)</a:t>
            </a:r>
            <a:endParaRPr lang="pt-BR" sz="28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LiquidCrystal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lcd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(8,9,4,5,6,7);</a:t>
            </a:r>
          </a:p>
          <a:p>
            <a:pPr marL="0" indent="0">
              <a:buNone/>
            </a:pP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numRows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 = 2</a:t>
            </a:r>
            <a:r>
              <a:rPr lang="pt-BR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pt-BR" sz="28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//linhas</a:t>
            </a:r>
            <a:endParaRPr lang="pt-BR" sz="28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numCols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 = 16</a:t>
            </a:r>
            <a:r>
              <a:rPr lang="pt-BR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pt-BR" sz="28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//colunas</a:t>
            </a:r>
            <a:endParaRPr lang="pt-BR" sz="28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 i = 0;</a:t>
            </a:r>
          </a:p>
          <a:p>
            <a:pPr marL="0" indent="0">
              <a:buNone/>
            </a:pP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 setup(){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lcd.begin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numRows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numCols</a:t>
            </a:r>
            <a:r>
              <a:rPr lang="pt-BR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  <a:r>
              <a:rPr lang="pt-BR" sz="28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//Início </a:t>
            </a:r>
            <a:endParaRPr lang="pt-BR" sz="28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lcd.clear</a:t>
            </a:r>
            <a:r>
              <a:rPr lang="pt-BR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(); </a:t>
            </a:r>
            <a:r>
              <a:rPr lang="pt-BR" sz="28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//Limpa o LCD</a:t>
            </a:r>
            <a:endParaRPr lang="pt-BR" sz="28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635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endParaRPr lang="pt-BR" sz="2800" dirty="0"/>
          </a:p>
          <a:p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Software (continuação)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Exemplo LCD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259904" y="1493168"/>
            <a:ext cx="8784976" cy="5400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 loop(){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lcd.setCursor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(0,0</a:t>
            </a:r>
            <a:r>
              <a:rPr lang="pt-BR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  <a:r>
              <a:rPr lang="pt-BR" sz="28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//Ajusta o cursor</a:t>
            </a:r>
            <a:endParaRPr lang="pt-BR" sz="28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lcd.print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Arduino</a:t>
            </a:r>
            <a:r>
              <a:rPr lang="pt-BR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"); </a:t>
            </a:r>
            <a:r>
              <a:rPr lang="pt-BR" sz="28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//Imprime</a:t>
            </a:r>
            <a:endParaRPr lang="pt-BR" sz="28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delay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(1000);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lcd.clear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(); 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lcd.setCursor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(0,1);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lcd.print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Rules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delay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(1000);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lcd.clear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(); </a:t>
            </a:r>
          </a:p>
          <a:p>
            <a:pPr marL="0" indent="0">
              <a:buNone/>
            </a:pP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4215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340768"/>
            <a:ext cx="8784976" cy="5400599"/>
          </a:xfrm>
        </p:spPr>
        <p:txBody>
          <a:bodyPr>
            <a:noAutofit/>
          </a:bodyPr>
          <a:lstStyle/>
          <a:p>
            <a:r>
              <a:rPr lang="pt-BR" sz="3000" dirty="0" smtClean="0"/>
              <a:t>ARDUINO HOMEPAGE. </a:t>
            </a:r>
            <a:r>
              <a:rPr lang="pt-BR" sz="3000" dirty="0"/>
              <a:t>Disponível em: </a:t>
            </a:r>
            <a:r>
              <a:rPr lang="pt-BR" sz="3000" dirty="0" smtClean="0"/>
              <a:t>&lt;https</a:t>
            </a:r>
            <a:r>
              <a:rPr lang="pt-BR" sz="3000" dirty="0"/>
              <a:t>://www.arduino.cc</a:t>
            </a:r>
            <a:r>
              <a:rPr lang="pt-BR" sz="3000" dirty="0" smtClean="0"/>
              <a:t>/&gt;. Acesso em: 31 de agosto de 2018.</a:t>
            </a:r>
            <a:endParaRPr lang="pt-BR" sz="28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pt-BR" dirty="0"/>
              <a:t>MONK, Simon. </a:t>
            </a:r>
            <a:r>
              <a:rPr lang="pt-BR" b="1" dirty="0" smtClean="0"/>
              <a:t>Programação </a:t>
            </a:r>
            <a:r>
              <a:rPr lang="pt-BR" b="1" dirty="0"/>
              <a:t>com </a:t>
            </a:r>
            <a:r>
              <a:rPr lang="pt-BR" b="1" dirty="0" err="1" smtClean="0"/>
              <a:t>Arduino</a:t>
            </a:r>
            <a:r>
              <a:rPr lang="pt-BR" b="1" dirty="0"/>
              <a:t>: começando </a:t>
            </a:r>
            <a:r>
              <a:rPr lang="pt-BR" b="1" dirty="0" smtClean="0"/>
              <a:t>com sketches</a:t>
            </a:r>
            <a:r>
              <a:rPr lang="pt-BR" dirty="0"/>
              <a:t>. Porto </a:t>
            </a:r>
            <a:r>
              <a:rPr lang="pt-BR" dirty="0" smtClean="0"/>
              <a:t>Alegre: </a:t>
            </a:r>
            <a:r>
              <a:rPr lang="pt-BR" dirty="0" err="1" smtClean="0"/>
              <a:t>Bookman</a:t>
            </a:r>
            <a:r>
              <a:rPr lang="pt-BR" dirty="0"/>
              <a:t>, 2013. </a:t>
            </a:r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53752"/>
            <a:ext cx="8265096" cy="1143000"/>
          </a:xfrm>
        </p:spPr>
        <p:txBody>
          <a:bodyPr/>
          <a:lstStyle/>
          <a:p>
            <a:r>
              <a:rPr lang="pt-BR" dirty="0" smtClean="0"/>
              <a:t>Referências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2808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3068960"/>
            <a:ext cx="9144000" cy="1470025"/>
          </a:xfrm>
        </p:spPr>
        <p:txBody>
          <a:bodyPr>
            <a:normAutofit/>
          </a:bodyPr>
          <a:lstStyle/>
          <a:p>
            <a:pPr algn="ctr"/>
            <a:r>
              <a:rPr lang="pt-BR" dirty="0" smtClean="0"/>
              <a:t>ARDUINO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-108520" y="4725144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>
                <a:latin typeface="Arial" pitchFamily="34" charset="0"/>
                <a:cs typeface="Arial" pitchFamily="34" charset="0"/>
              </a:rPr>
              <a:t>Prof. Me. Pietro Martins de Oliveira</a:t>
            </a: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80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1723</TotalTime>
  <Words>1380</Words>
  <Application>Microsoft Office PowerPoint</Application>
  <PresentationFormat>On-screen Show (4:3)</PresentationFormat>
  <Paragraphs>466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Calibri</vt:lpstr>
      <vt:lpstr>Cambria Math</vt:lpstr>
      <vt:lpstr>Consolas</vt:lpstr>
      <vt:lpstr>Tema do Office</vt:lpstr>
      <vt:lpstr>ARDUINO</vt:lpstr>
      <vt:lpstr>Microcontroladores</vt:lpstr>
      <vt:lpstr>Arduino</vt:lpstr>
      <vt:lpstr>Sinais Analógicos × Sinais Digitais</vt:lpstr>
      <vt:lpstr>Detalhes do Hardware – Arduino Uno</vt:lpstr>
      <vt:lpstr>Arduino - Versões</vt:lpstr>
      <vt:lpstr>Arduino - Versões</vt:lpstr>
      <vt:lpstr>Arduino - Shields</vt:lpstr>
      <vt:lpstr>Programando o Arduino - IDE</vt:lpstr>
      <vt:lpstr>APROFUNDE SEUS  CONHECIMENTOS</vt:lpstr>
      <vt:lpstr>Referências</vt:lpstr>
      <vt:lpstr>ARDUINO</vt:lpstr>
      <vt:lpstr>INTRODUÇÃO À ELETRÔNICA BÁSICA</vt:lpstr>
      <vt:lpstr>Protótipos com Componentes Eletrônicos</vt:lpstr>
      <vt:lpstr>Protótipos com Componentes Eletrônicos</vt:lpstr>
      <vt:lpstr>Protótipos com Componentes Eletrônicos</vt:lpstr>
      <vt:lpstr>Protótipos com Componentes Eletrônicos</vt:lpstr>
      <vt:lpstr>Protótipos com Componentes Eletrônicos</vt:lpstr>
      <vt:lpstr>Protótipos com Componentes Eletrônicos</vt:lpstr>
      <vt:lpstr>Protótipos com Componentes Eletrônicos</vt:lpstr>
      <vt:lpstr>Protótipos com Componentes Eletrônicos</vt:lpstr>
      <vt:lpstr>APROFUNDE SEUS  CONHECIMENTOS</vt:lpstr>
      <vt:lpstr>Referências</vt:lpstr>
      <vt:lpstr>INTRODUÇÃO À ELETRÔNICA BÁSICA</vt:lpstr>
      <vt:lpstr>EXEMPLOS: LED BLINK</vt:lpstr>
      <vt:lpstr>Programando o Arduino - Exemplo</vt:lpstr>
      <vt:lpstr>Hardware – Exemplo “Pisca-pisca”</vt:lpstr>
      <vt:lpstr>Código – Exemplo “Pisca-pisca”</vt:lpstr>
      <vt:lpstr>Simulador</vt:lpstr>
      <vt:lpstr>Referências</vt:lpstr>
      <vt:lpstr>EXEMPLOS: LED BLINK</vt:lpstr>
      <vt:lpstr>EXEMPLOS: SINAIS ANALÓGICOS</vt:lpstr>
      <vt:lpstr>Exemplo - Potenciômetro</vt:lpstr>
      <vt:lpstr>Hardware Exemplo Potenciômetro</vt:lpstr>
      <vt:lpstr>Software Exemplo Potenciômetro</vt:lpstr>
      <vt:lpstr>Software (continuação) Exemplo Potenciômetro</vt:lpstr>
      <vt:lpstr>Referências</vt:lpstr>
      <vt:lpstr>EXEMPLOS: SINAIS ANALÓGICOS</vt:lpstr>
      <vt:lpstr>EXEMPLOS: VALORES ALEATÓRIOS</vt:lpstr>
      <vt:lpstr>Exemplo - Aleatório</vt:lpstr>
      <vt:lpstr>Hardware Exemplo Aleatório</vt:lpstr>
      <vt:lpstr>Software Exemplo Aleatório</vt:lpstr>
      <vt:lpstr>Software (continuação) Exemplo Aleatório</vt:lpstr>
      <vt:lpstr>Referências</vt:lpstr>
      <vt:lpstr>EXEMPLOS: VALORES ALEATÓRIOS</vt:lpstr>
      <vt:lpstr>EXEMPLOS: LIQUID CRYSTAL DISPLAY</vt:lpstr>
      <vt:lpstr>Exemplo - LCD</vt:lpstr>
      <vt:lpstr>Hardware Exemplo LCD</vt:lpstr>
      <vt:lpstr>Software Exemplo LCD</vt:lpstr>
      <vt:lpstr>Software (continuação) Exemplo LCD</vt:lpstr>
      <vt:lpstr>Referências</vt:lpstr>
      <vt:lpstr>ARDUINO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Normas para revisão de slides</dc:title>
  <dc:creator>Viviane Favaro Notari</dc:creator>
  <cp:lastModifiedBy>Desktop</cp:lastModifiedBy>
  <cp:revision>274</cp:revision>
  <dcterms:created xsi:type="dcterms:W3CDTF">2014-11-19T13:41:35Z</dcterms:created>
  <dcterms:modified xsi:type="dcterms:W3CDTF">2018-08-31T12:39:06Z</dcterms:modified>
</cp:coreProperties>
</file>